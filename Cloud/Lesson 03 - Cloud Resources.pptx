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Lst>
  <p:notesMasterIdLst>
    <p:notesMasterId r:id="rId19"/>
  </p:notesMasterIdLst>
  <p:sldIdLst>
    <p:sldId id="256" r:id="rId5"/>
    <p:sldId id="2147483184" r:id="rId6"/>
    <p:sldId id="2147483171" r:id="rId7"/>
    <p:sldId id="2147483183" r:id="rId8"/>
    <p:sldId id="2147483187" r:id="rId9"/>
    <p:sldId id="2147483174" r:id="rId10"/>
    <p:sldId id="2147483175" r:id="rId11"/>
    <p:sldId id="2147483185" r:id="rId12"/>
    <p:sldId id="2147483176" r:id="rId13"/>
    <p:sldId id="2147483186" r:id="rId14"/>
    <p:sldId id="2147483177" r:id="rId15"/>
    <p:sldId id="2147483178" r:id="rId16"/>
    <p:sldId id="2147483179" r:id="rId17"/>
    <p:sldId id="214748316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859B82-60AB-D386-7409-3C730527B93F}" name="Mccormick, John T CPT USARMY AFC AI TF (USA)" initials="M(" userId="S::john.t.mccormick37.mil@army.mil::66d3d108-0503-4286-8921-38b146bf1ad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0142B4-E5DE-57BD-EA6F-84221A7E8A2E}" v="796" dt="2026-01-05T14:46:06.3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99"/>
    <p:restoredTop sz="94681"/>
  </p:normalViewPr>
  <p:slideViewPr>
    <p:cSldViewPr snapToGrid="0">
      <p:cViewPr varScale="1">
        <p:scale>
          <a:sx n="71" d="100"/>
          <a:sy n="71" d="100"/>
        </p:scale>
        <p:origin x="82" y="1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49804C-4A40-4955-94A4-2775424677B1}"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327025-55D1-44BD-A02A-3CE411260EA4}" type="slidenum">
              <a:rPr lang="en-US" smtClean="0"/>
              <a:t>‹#›</a:t>
            </a:fld>
            <a:endParaRPr lang="en-US"/>
          </a:p>
        </p:txBody>
      </p:sp>
    </p:spTree>
    <p:extLst>
      <p:ext uri="{BB962C8B-B14F-4D97-AF65-F5344CB8AC3E}">
        <p14:creationId xmlns:p14="http://schemas.microsoft.com/office/powerpoint/2010/main" val="410441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E0E07-47BB-3B9A-662D-92CBD10CC1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A5119D-F513-0290-7E09-7F22336F0D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CD68C6-B4CB-B124-CE64-5442EA55F1CD}"/>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034237FF-1860-E4F8-6B94-1B186CBAECC0}"/>
              </a:ext>
            </a:extLst>
          </p:cNvPr>
          <p:cNvSpPr>
            <a:spLocks noGrp="1"/>
          </p:cNvSpPr>
          <p:nvPr>
            <p:ph type="sldNum" sz="quarter" idx="5"/>
          </p:nvPr>
        </p:nvSpPr>
        <p:spPr/>
        <p:txBody>
          <a:bodyPr/>
          <a:lstStyle/>
          <a:p>
            <a:fld id="{030AB16C-82C9-439F-BD0A-4D240554FB00}" type="slidenum">
              <a:rPr lang="en-US" smtClean="0"/>
              <a:t>2</a:t>
            </a:fld>
            <a:endParaRPr lang="en-US"/>
          </a:p>
        </p:txBody>
      </p:sp>
    </p:spTree>
    <p:extLst>
      <p:ext uri="{BB962C8B-B14F-4D97-AF65-F5344CB8AC3E}">
        <p14:creationId xmlns:p14="http://schemas.microsoft.com/office/powerpoint/2010/main" val="1999068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p:cNvSpPr>
            <a:spLocks noGrp="1"/>
          </p:cNvSpPr>
          <p:nvPr>
            <p:ph type="sldNum" sz="quarter" idx="5"/>
          </p:nvPr>
        </p:nvSpPr>
        <p:spPr/>
        <p:txBody>
          <a:bodyPr/>
          <a:lstStyle/>
          <a:p>
            <a:fld id="{030AB16C-82C9-439F-BD0A-4D240554FB00}" type="slidenum">
              <a:rPr lang="en-US" smtClean="0"/>
              <a:t>3</a:t>
            </a:fld>
            <a:endParaRPr lang="en-US"/>
          </a:p>
        </p:txBody>
      </p:sp>
    </p:spTree>
    <p:extLst>
      <p:ext uri="{BB962C8B-B14F-4D97-AF65-F5344CB8AC3E}">
        <p14:creationId xmlns:p14="http://schemas.microsoft.com/office/powerpoint/2010/main" val="1050351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D8363-718E-1D16-4297-026CA386BA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58647-1A50-E6D1-F9AB-BDC37A637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7BBC58-545F-7DC8-A5E5-7901A297B080}"/>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6BEEAA9A-CD02-6300-D1C3-2A2AE23705F4}"/>
              </a:ext>
            </a:extLst>
          </p:cNvPr>
          <p:cNvSpPr>
            <a:spLocks noGrp="1"/>
          </p:cNvSpPr>
          <p:nvPr>
            <p:ph type="sldNum" sz="quarter" idx="5"/>
          </p:nvPr>
        </p:nvSpPr>
        <p:spPr/>
        <p:txBody>
          <a:bodyPr/>
          <a:lstStyle/>
          <a:p>
            <a:fld id="{030AB16C-82C9-439F-BD0A-4D240554FB00}" type="slidenum">
              <a:rPr lang="en-US" smtClean="0"/>
              <a:t>4</a:t>
            </a:fld>
            <a:endParaRPr lang="en-US"/>
          </a:p>
        </p:txBody>
      </p:sp>
    </p:spTree>
    <p:extLst>
      <p:ext uri="{BB962C8B-B14F-4D97-AF65-F5344CB8AC3E}">
        <p14:creationId xmlns:p14="http://schemas.microsoft.com/office/powerpoint/2010/main" val="3764159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8430-188C-3534-24C3-A472E1A69E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ABF6E-E809-CDAC-E36E-58BE72E05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D3F274-2584-7F2F-167F-1A5F13BE6077}"/>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C13F99E4-FB62-AE21-0EEC-F1D2DE953096}"/>
              </a:ext>
            </a:extLst>
          </p:cNvPr>
          <p:cNvSpPr>
            <a:spLocks noGrp="1"/>
          </p:cNvSpPr>
          <p:nvPr>
            <p:ph type="sldNum" sz="quarter" idx="5"/>
          </p:nvPr>
        </p:nvSpPr>
        <p:spPr/>
        <p:txBody>
          <a:bodyPr/>
          <a:lstStyle/>
          <a:p>
            <a:fld id="{030AB16C-82C9-439F-BD0A-4D240554FB00}" type="slidenum">
              <a:rPr lang="en-US" smtClean="0"/>
              <a:t>5</a:t>
            </a:fld>
            <a:endParaRPr lang="en-US"/>
          </a:p>
        </p:txBody>
      </p:sp>
    </p:spTree>
    <p:extLst>
      <p:ext uri="{BB962C8B-B14F-4D97-AF65-F5344CB8AC3E}">
        <p14:creationId xmlns:p14="http://schemas.microsoft.com/office/powerpoint/2010/main" val="23813101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D4635-4846-F774-4CC0-4644362D35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97D35-F89B-E301-8A11-1E35CD0C3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56ED3E-86ED-135B-AFA6-FBDBA7EEC7AA}"/>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D8C40D87-127F-82F4-2DD5-AA5D5DAAA526}"/>
              </a:ext>
            </a:extLst>
          </p:cNvPr>
          <p:cNvSpPr>
            <a:spLocks noGrp="1"/>
          </p:cNvSpPr>
          <p:nvPr>
            <p:ph type="sldNum" sz="quarter" idx="5"/>
          </p:nvPr>
        </p:nvSpPr>
        <p:spPr/>
        <p:txBody>
          <a:bodyPr/>
          <a:lstStyle/>
          <a:p>
            <a:fld id="{030AB16C-82C9-439F-BD0A-4D240554FB00}" type="slidenum">
              <a:rPr lang="en-US" smtClean="0"/>
              <a:t>6</a:t>
            </a:fld>
            <a:endParaRPr lang="en-US"/>
          </a:p>
        </p:txBody>
      </p:sp>
    </p:spTree>
    <p:extLst>
      <p:ext uri="{BB962C8B-B14F-4D97-AF65-F5344CB8AC3E}">
        <p14:creationId xmlns:p14="http://schemas.microsoft.com/office/powerpoint/2010/main" val="37592832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D78CC-6193-593F-4C6A-170A7A4DF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5FF382-A965-CE66-57AE-26183D3C3C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64691-9E78-175D-D2CF-B27B3EFA68FE}"/>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E0423781-F0B5-D4C0-DD92-5B7D5F3F68E8}"/>
              </a:ext>
            </a:extLst>
          </p:cNvPr>
          <p:cNvSpPr>
            <a:spLocks noGrp="1"/>
          </p:cNvSpPr>
          <p:nvPr>
            <p:ph type="sldNum" sz="quarter" idx="5"/>
          </p:nvPr>
        </p:nvSpPr>
        <p:spPr/>
        <p:txBody>
          <a:bodyPr/>
          <a:lstStyle/>
          <a:p>
            <a:fld id="{030AB16C-82C9-439F-BD0A-4D240554FB00}" type="slidenum">
              <a:rPr lang="en-US" smtClean="0"/>
              <a:t>7</a:t>
            </a:fld>
            <a:endParaRPr lang="en-US"/>
          </a:p>
        </p:txBody>
      </p:sp>
    </p:spTree>
    <p:extLst>
      <p:ext uri="{BB962C8B-B14F-4D97-AF65-F5344CB8AC3E}">
        <p14:creationId xmlns:p14="http://schemas.microsoft.com/office/powerpoint/2010/main" val="1288151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0558C-A86D-FDA5-B54C-BED93D8B3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31155F-A4D8-2F97-CAE4-EAAB1C618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4F22C-8818-404C-27C5-4783DB369BDC}"/>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592B832B-6A99-FCD2-479F-F60420F76D41}"/>
              </a:ext>
            </a:extLst>
          </p:cNvPr>
          <p:cNvSpPr>
            <a:spLocks noGrp="1"/>
          </p:cNvSpPr>
          <p:nvPr>
            <p:ph type="sldNum" sz="quarter" idx="5"/>
          </p:nvPr>
        </p:nvSpPr>
        <p:spPr/>
        <p:txBody>
          <a:bodyPr/>
          <a:lstStyle/>
          <a:p>
            <a:fld id="{030AB16C-82C9-439F-BD0A-4D240554FB00}" type="slidenum">
              <a:rPr lang="en-US" smtClean="0"/>
              <a:t>8</a:t>
            </a:fld>
            <a:endParaRPr lang="en-US"/>
          </a:p>
        </p:txBody>
      </p:sp>
    </p:spTree>
    <p:extLst>
      <p:ext uri="{BB962C8B-B14F-4D97-AF65-F5344CB8AC3E}">
        <p14:creationId xmlns:p14="http://schemas.microsoft.com/office/powerpoint/2010/main" val="3926815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AE974-E383-F95F-168F-C10B163D67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4BB32-8083-B211-0C33-79EA08790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5DBDEA-938E-6724-C394-6FA0BCAD896A}"/>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BE8FE480-DA59-1804-CF1E-0A39672ECACF}"/>
              </a:ext>
            </a:extLst>
          </p:cNvPr>
          <p:cNvSpPr>
            <a:spLocks noGrp="1"/>
          </p:cNvSpPr>
          <p:nvPr>
            <p:ph type="sldNum" sz="quarter" idx="5"/>
          </p:nvPr>
        </p:nvSpPr>
        <p:spPr/>
        <p:txBody>
          <a:bodyPr/>
          <a:lstStyle/>
          <a:p>
            <a:fld id="{030AB16C-82C9-439F-BD0A-4D240554FB00}" type="slidenum">
              <a:rPr lang="en-US" smtClean="0"/>
              <a:t>9</a:t>
            </a:fld>
            <a:endParaRPr lang="en-US"/>
          </a:p>
        </p:txBody>
      </p:sp>
    </p:spTree>
    <p:extLst>
      <p:ext uri="{BB962C8B-B14F-4D97-AF65-F5344CB8AC3E}">
        <p14:creationId xmlns:p14="http://schemas.microsoft.com/office/powerpoint/2010/main" val="2799307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E739B-ECC7-38A7-4937-99671EA1F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CF9DF-1653-1E2A-BE9E-C13FA95AAA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48DA35-958D-B6DB-5809-35BE7FDC2EAF}"/>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838655B3-6681-1414-1E7B-F8F5BF6DF4C3}"/>
              </a:ext>
            </a:extLst>
          </p:cNvPr>
          <p:cNvSpPr>
            <a:spLocks noGrp="1"/>
          </p:cNvSpPr>
          <p:nvPr>
            <p:ph type="sldNum" sz="quarter" idx="5"/>
          </p:nvPr>
        </p:nvSpPr>
        <p:spPr/>
        <p:txBody>
          <a:bodyPr/>
          <a:lstStyle/>
          <a:p>
            <a:fld id="{030AB16C-82C9-439F-BD0A-4D240554FB00}" type="slidenum">
              <a:rPr lang="en-US" smtClean="0"/>
              <a:t>10</a:t>
            </a:fld>
            <a:endParaRPr lang="en-US"/>
          </a:p>
        </p:txBody>
      </p:sp>
    </p:spTree>
    <p:extLst>
      <p:ext uri="{BB962C8B-B14F-4D97-AF65-F5344CB8AC3E}">
        <p14:creationId xmlns:p14="http://schemas.microsoft.com/office/powerpoint/2010/main" val="1644546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673A2-DC71-7292-B32D-D8833276C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4B744-C7E5-AB55-E683-FAE3E240A1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302B1-D00F-3175-0788-CE8F880D5C7A}"/>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C1CDA309-801E-E688-7483-5270D3080C17}"/>
              </a:ext>
            </a:extLst>
          </p:cNvPr>
          <p:cNvSpPr>
            <a:spLocks noGrp="1"/>
          </p:cNvSpPr>
          <p:nvPr>
            <p:ph type="sldNum" sz="quarter" idx="5"/>
          </p:nvPr>
        </p:nvSpPr>
        <p:spPr/>
        <p:txBody>
          <a:bodyPr/>
          <a:lstStyle/>
          <a:p>
            <a:fld id="{030AB16C-82C9-439F-BD0A-4D240554FB00}" type="slidenum">
              <a:rPr lang="en-US" smtClean="0"/>
              <a:t>11</a:t>
            </a:fld>
            <a:endParaRPr lang="en-US"/>
          </a:p>
        </p:txBody>
      </p:sp>
    </p:spTree>
    <p:extLst>
      <p:ext uri="{BB962C8B-B14F-4D97-AF65-F5344CB8AC3E}">
        <p14:creationId xmlns:p14="http://schemas.microsoft.com/office/powerpoint/2010/main" val="2754209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D9B9B-36FD-AD22-BD8C-FF7D512C8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98FEC-4C17-1E65-4B0C-5BB7130C2C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95501-DA3A-D2AD-6883-339A5772365B}"/>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79AE4151-88CF-1FA1-4271-D4FE0DABCA33}"/>
              </a:ext>
            </a:extLst>
          </p:cNvPr>
          <p:cNvSpPr>
            <a:spLocks noGrp="1"/>
          </p:cNvSpPr>
          <p:nvPr>
            <p:ph type="sldNum" sz="quarter" idx="5"/>
          </p:nvPr>
        </p:nvSpPr>
        <p:spPr/>
        <p:txBody>
          <a:bodyPr/>
          <a:lstStyle/>
          <a:p>
            <a:fld id="{030AB16C-82C9-439F-BD0A-4D240554FB00}" type="slidenum">
              <a:rPr lang="en-US" smtClean="0"/>
              <a:t>12</a:t>
            </a:fld>
            <a:endParaRPr lang="en-US"/>
          </a:p>
        </p:txBody>
      </p:sp>
    </p:spTree>
    <p:extLst>
      <p:ext uri="{BB962C8B-B14F-4D97-AF65-F5344CB8AC3E}">
        <p14:creationId xmlns:p14="http://schemas.microsoft.com/office/powerpoint/2010/main" val="41987593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25E11-01B0-49FD-D234-CF7CEDC27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E805E-A427-A9D8-1055-611AA22370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5A70C-9624-6373-DCEB-41CCD8514A53}"/>
              </a:ext>
            </a:extLst>
          </p:cNvPr>
          <p:cNvSpPr>
            <a:spLocks noGrp="1"/>
          </p:cNvSpPr>
          <p:nvPr>
            <p:ph type="body" idx="1"/>
          </p:nvPr>
        </p:nvSpPr>
        <p:spPr/>
        <p:txBody>
          <a:bodyPr/>
          <a:lstStyle/>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3302344B-3BD2-A81E-9273-4E27B47E77D8}"/>
              </a:ext>
            </a:extLst>
          </p:cNvPr>
          <p:cNvSpPr>
            <a:spLocks noGrp="1"/>
          </p:cNvSpPr>
          <p:nvPr>
            <p:ph type="sldNum" sz="quarter" idx="5"/>
          </p:nvPr>
        </p:nvSpPr>
        <p:spPr/>
        <p:txBody>
          <a:bodyPr/>
          <a:lstStyle/>
          <a:p>
            <a:fld id="{030AB16C-82C9-439F-BD0A-4D240554FB00}" type="slidenum">
              <a:rPr lang="en-US" smtClean="0"/>
              <a:t>13</a:t>
            </a:fld>
            <a:endParaRPr lang="en-US"/>
          </a:p>
        </p:txBody>
      </p:sp>
    </p:spTree>
    <p:extLst>
      <p:ext uri="{BB962C8B-B14F-4D97-AF65-F5344CB8AC3E}">
        <p14:creationId xmlns:p14="http://schemas.microsoft.com/office/powerpoint/2010/main" val="33867346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7A3E0868-4E26-4CDC-8A56-D70E2D8B12FE}" type="datetime3">
              <a:rPr lang="en-US" smtClean="0"/>
              <a:t>8 June 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64E5BE4B-2FBF-4174-9E62-85FAD1CB43A6}" type="slidenum">
              <a:rPr lang="en-US" smtClean="0"/>
              <a:pPr/>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userDrawn="1"/>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userDrawn="1"/>
        </p:nvPicPr>
        <p:blipFill>
          <a:blip r:embed="rId3"/>
          <a:srcRect/>
          <a:stretch/>
        </p:blipFill>
        <p:spPr>
          <a:xfrm>
            <a:off x="10004616" y="411163"/>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2"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80"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22683622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6DDC931E-8CBE-4A3F-A034-9B6122C6DCDB}" type="datetime3">
              <a:rPr lang="en-US" smtClean="0"/>
              <a:t>8 June 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userDrawn="1"/>
        </p:nvPicPr>
        <p:blipFill>
          <a:blip r:embed="rId2"/>
          <a:stretch>
            <a:fillRect/>
          </a:stretch>
        </p:blipFill>
        <p:spPr bwMode="black">
          <a:xfrm>
            <a:off x="180891" y="104975"/>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1"/>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9"/>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3"/>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5"/>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7"/>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1" y="5133531"/>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1" y="4952739"/>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1" y="5314323"/>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1" y="5495115"/>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1" y="5675907"/>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userDrawn="1"/>
        </p:nvGrpSpPr>
        <p:grpSpPr>
          <a:xfrm>
            <a:off x="548219" y="1974220"/>
            <a:ext cx="7173383"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80"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55357309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D41656AB-D2E1-472E-8B95-0DF5C6E1D623}" type="datetime3">
              <a:rPr lang="en-US" smtClean="0"/>
              <a:t>8 June 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64E5BE4B-2FBF-4174-9E62-85FAD1CB43A6}" type="slidenum">
              <a:rPr lang="en-US" smtClean="0"/>
              <a:pPr/>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userDrawn="1"/>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2" y="3784732"/>
            <a:ext cx="3565524" cy="457200"/>
          </a:xfr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80" y="3784732"/>
            <a:ext cx="2131695" cy="457200"/>
          </a:xfr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userDrawn="1"/>
        </p:nvPicPr>
        <p:blipFill>
          <a:blip r:embed="rId4"/>
          <a:srcRect/>
          <a:stretch/>
        </p:blipFill>
        <p:spPr>
          <a:xfrm>
            <a:off x="10004616" y="411163"/>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234218070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9"/>
            <a:ext cx="11024925"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AD622D1A-DF83-41A8-85FF-04D90BF831D3}" type="datetime3">
              <a:rPr lang="en-US" smtClean="0"/>
              <a:t>8 June 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1" cy="228600"/>
          </a:xfrm>
        </p:spPr>
        <p:txBody>
          <a:bodyPr rIns="0"/>
          <a:lstStyle/>
          <a:p>
            <a:fld id="{64E5BE4B-2FBF-4174-9E62-85FAD1CB43A6}" type="slidenum">
              <a:rPr lang="en-US" smtClean="0"/>
              <a:pPr/>
              <a:t>‹#›</a:t>
            </a:fld>
            <a:endParaRPr lang="en-US"/>
          </a:p>
        </p:txBody>
      </p:sp>
    </p:spTree>
    <p:extLst>
      <p:ext uri="{BB962C8B-B14F-4D97-AF65-F5344CB8AC3E}">
        <p14:creationId xmlns:p14="http://schemas.microsoft.com/office/powerpoint/2010/main" val="9247321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334F72C3-CDF3-44A8-B602-1649B1728485}" type="datetime3">
              <a:rPr lang="en-US" smtClean="0"/>
              <a:t>8 June 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69299662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1E0132BA-B5E7-4FFD-AF6C-169169D47D4A}" type="datetime3">
              <a:rPr lang="en-US" smtClean="0"/>
              <a:t>8 June 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424562070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1600200"/>
            <a:ext cx="2499359" cy="457200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81A30091-1C2A-4151-8D3C-D1E47A72615F}" type="datetime3">
              <a:rPr lang="en-US" smtClean="0"/>
              <a:t>8 June 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19573700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9"/>
          </a:xfr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2" y="2285997"/>
            <a:ext cx="2499359" cy="3886203"/>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35D703CE-07B4-4C05-A488-B4566700621F}" type="datetime3">
              <a:rPr lang="en-US" smtClean="0"/>
              <a:t>8 June 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13901389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3886200"/>
          </a:xfrm>
        </p:spPr>
        <p:txBody>
          <a:bodyPr/>
          <a:lstStyle>
            <a:lvl1pPr marL="0" indent="0">
              <a:spcBef>
                <a:spcPts val="1000"/>
              </a:spcBef>
              <a:buFontTx/>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3886200"/>
          </a:xfr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94BD61C-20BA-43AF-A21F-1DAFB3200099}" type="datetime3">
              <a:rPr lang="en-US" smtClean="0"/>
              <a:t>8 June 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305937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3886200"/>
          </a:xfrm>
        </p:spPr>
        <p:txBody>
          <a:bodyPr/>
          <a:lstStyle>
            <a:lvl1pPr marL="0" indent="0">
              <a:spcBef>
                <a:spcPts val="1000"/>
              </a:spcBef>
              <a:buFontTx/>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388620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7B8021B-6105-4216-96FC-94348F216D0E}" type="datetime3">
              <a:rPr lang="en-US" smtClean="0"/>
              <a:t>8 June 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421509308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5D27CFAB-73E6-44A8-B862-B3306344E3F2}" type="datetime3">
              <a:rPr lang="en-US" smtClean="0"/>
              <a:t>8 June 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64E5BE4B-2FBF-4174-9E62-85FAD1CB43A6}" type="slidenum">
              <a:rPr lang="en-US" smtClean="0"/>
              <a:pPr/>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52795682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9B2E784-A5F5-4301-881B-94AC8DBF9DED}" type="datetime3">
              <a:rPr lang="en-US" smtClean="0"/>
              <a:t>8 June 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48093549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18EAB3A5-9E92-4BB9-8F22-9632B4FBEDBA}" type="datetime3">
              <a:rPr lang="en-US" smtClean="0"/>
              <a:t>8 June 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71024909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40923810-5FB2-48C9-96CA-1DE2C4773142}" type="datetime3">
              <a:rPr lang="en-US" smtClean="0"/>
              <a:t>8 June 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64E5BE4B-2FBF-4174-9E62-85FAD1CB43A6}" type="slidenum">
              <a:rPr lang="en-US" smtClean="0"/>
              <a:pPr/>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8" y="1076325"/>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405435837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E50EFF4B-86EB-42FB-93EA-7D8F9CB2466F}" type="datetime3">
              <a:rPr lang="en-US" smtClean="0"/>
              <a:t>8 June 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050823963"/>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FB14FC24-E041-45E9-9A72-E5755A86890F}" type="datetime3">
              <a:rPr lang="en-US" smtClean="0"/>
              <a:t>8 June 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74606028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8A19125-94A7-4474-858C-FD9C4ABE9DDA}" type="datetime3">
              <a:rPr lang="en-US" smtClean="0"/>
              <a:t>8 June 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67995991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2"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41"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2"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6"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6"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6"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2"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2"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2"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2" y="1600200"/>
            <a:ext cx="2499359" cy="1234440"/>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2" y="3063240"/>
            <a:ext cx="2499359" cy="365760"/>
          </a:xfr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2" y="3474720"/>
            <a:ext cx="2499359" cy="2697480"/>
          </a:xfr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3BA0343D-C8D8-43CE-BB79-50DEA219DB07}" type="datetime3">
              <a:rPr lang="en-US" smtClean="0"/>
              <a:t>8 June 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80084186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453BD212-0B9F-4987-965F-AC83B2FC354F}" type="datetime3">
              <a:rPr lang="en-US" smtClean="0"/>
              <a:t>8 June 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baseline="0" dirty="0">
                <a:solidFill>
                  <a:srgbClr val="2DAA27"/>
                </a:solidFill>
                <a:latin typeface="+mn-lt"/>
                <a:cs typeface="Arial Bold" panose="020B0704020202020204" pitchFamily="34" charset="0"/>
              </a:rPr>
              <a:t>UNCLASSIFIED/GENERAL</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8694352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solidFill>
            <a:srgbClr val="565557"/>
          </a:solidFill>
        </p:spPr>
        <p:txBody>
          <a:bodyPr anchor="ctr" anchorCtr="0"/>
          <a:lstStyle>
            <a:lvl1pPr marL="0" indent="0" algn="ctr">
              <a:buFontTx/>
              <a:buNone/>
              <a:defRPr sz="1000">
                <a:solidFill>
                  <a:srgbClr val="FFFFFF"/>
                </a:solidFill>
              </a:defRPr>
            </a:lvl1pPr>
          </a:lstStyle>
          <a:p>
            <a:r>
              <a:rPr lang="en-US" dirty="0"/>
              <a:t>Click icon to add picture</a:t>
            </a:r>
          </a:p>
        </p:txBody>
      </p:sp>
      <p:sp>
        <p:nvSpPr>
          <p:cNvPr id="2" name="Title 2"/>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220AF9C2-5E8A-4308-AE6B-CA9B65007D0E}" type="datetime3">
              <a:rPr lang="en-US" smtClean="0"/>
              <a:t>8 June 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64E5BE4B-2FBF-4174-9E62-85FAD1CB43A6}" type="slidenum">
              <a:rPr lang="en-US" smtClean="0"/>
              <a:pPr/>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8769177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FF31E861-D2AF-431D-860B-DCF67C218052}" type="datetime3">
              <a:rPr lang="en-US" smtClean="0"/>
              <a:t>8 June 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0078698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p:spPr>
        <p:txBody>
          <a:bodyPr/>
          <a:lstStyle>
            <a:lvl1pPr marL="0" indent="0">
              <a:lnSpc>
                <a:spcPct val="90000"/>
              </a:lnSpc>
              <a:spcBef>
                <a:spcPts val="0"/>
              </a:spcBef>
              <a:buFontTx/>
              <a:buNone/>
              <a:defRPr sz="36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D1DA25B2-AAF1-4C1F-AA38-12D5BFA7D4C8}" type="datetime3">
              <a:rPr lang="en-US" smtClean="0"/>
              <a:t>8 June 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7605366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25C0F39-45D0-48E9-90B3-7FE8FCE561C8}" type="datetime3">
              <a:rPr lang="en-US" smtClean="0"/>
              <a:t>8 June 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8" y="1076325"/>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425616151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8" y="1076325"/>
            <a:ext cx="5365748" cy="5095875"/>
          </a:xfr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9BAF1A3D-92FA-4F24-9781-74AFA516A230}" type="datetime3">
              <a:rPr lang="en-US" smtClean="0"/>
              <a:t>8 June 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0687179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5719C672-856D-4617-A693-8FE15749A9B7}" type="datetime3">
              <a:rPr lang="en-US" smtClean="0"/>
              <a:t>8 June 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50201158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5F6C764D-A39E-4C03-B161-E0BC66E8883B}" type="datetime3">
              <a:rPr lang="en-US" smtClean="0"/>
              <a:t>8 June 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52859072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E3E33F9-20B7-4995-BE7D-165DBB597850}" type="datetime3">
              <a:rPr lang="en-US" smtClean="0"/>
              <a:t>8 June 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848115215"/>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D41C263-3501-4369-A962-62B6BF915CDE}" type="datetime3">
              <a:rPr lang="en-US" smtClean="0"/>
              <a:t>8 June 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6835350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userDrawn="1"/>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9" y="4819415"/>
            <a:ext cx="5365749" cy="1371599"/>
          </a:xfr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B06F3EBE-B2E8-4992-9F00-9E4B44F057C0}" type="datetime3">
              <a:rPr lang="en-US" smtClean="0"/>
              <a:t>8 June 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274489500"/>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userDrawn="1"/>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3304395375"/>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1800"/>
              <a:buNone/>
              <a:defRPr sz="2400"/>
            </a:lvl1pPr>
            <a:lvl2pPr lvl="1" algn="ctr">
              <a:lnSpc>
                <a:spcPct val="90000"/>
              </a:lnSpc>
              <a:spcBef>
                <a:spcPts val="500"/>
              </a:spcBef>
              <a:spcAft>
                <a:spcPts val="0"/>
              </a:spcAft>
              <a:buClr>
                <a:schemeClr val="dk1"/>
              </a:buClr>
              <a:buSzPts val="1500"/>
              <a:buNone/>
              <a:defRPr sz="2000"/>
            </a:lvl2pPr>
            <a:lvl3pPr lvl="2" algn="ctr">
              <a:lnSpc>
                <a:spcPct val="90000"/>
              </a:lnSpc>
              <a:spcBef>
                <a:spcPts val="500"/>
              </a:spcBef>
              <a:spcAft>
                <a:spcPts val="0"/>
              </a:spcAft>
              <a:buClr>
                <a:schemeClr val="dk1"/>
              </a:buClr>
              <a:buSzPts val="1350"/>
              <a:buNone/>
              <a:defRPr sz="1800"/>
            </a:lvl3pPr>
            <a:lvl4pPr lvl="3" algn="ctr">
              <a:lnSpc>
                <a:spcPct val="90000"/>
              </a:lnSpc>
              <a:spcBef>
                <a:spcPts val="500"/>
              </a:spcBef>
              <a:spcAft>
                <a:spcPts val="0"/>
              </a:spcAft>
              <a:buClr>
                <a:schemeClr val="dk1"/>
              </a:buClr>
              <a:buSzPts val="1200"/>
              <a:buNone/>
              <a:defRPr sz="1600"/>
            </a:lvl4pPr>
            <a:lvl5pPr lvl="4" algn="ctr">
              <a:lnSpc>
                <a:spcPct val="90000"/>
              </a:lnSpc>
              <a:spcBef>
                <a:spcPts val="500"/>
              </a:spcBef>
              <a:spcAft>
                <a:spcPts val="0"/>
              </a:spcAft>
              <a:buClr>
                <a:schemeClr val="dk1"/>
              </a:buClr>
              <a:buSzPts val="1200"/>
              <a:buNone/>
              <a:defRPr sz="1600"/>
            </a:lvl5pPr>
            <a:lvl6pPr lvl="5" algn="ctr">
              <a:lnSpc>
                <a:spcPct val="90000"/>
              </a:lnSpc>
              <a:spcBef>
                <a:spcPts val="500"/>
              </a:spcBef>
              <a:spcAft>
                <a:spcPts val="0"/>
              </a:spcAft>
              <a:buClr>
                <a:schemeClr val="dk1"/>
              </a:buClr>
              <a:buSzPts val="1200"/>
              <a:buNone/>
              <a:defRPr sz="1600"/>
            </a:lvl6pPr>
            <a:lvl7pPr lvl="6" algn="ctr">
              <a:lnSpc>
                <a:spcPct val="90000"/>
              </a:lnSpc>
              <a:spcBef>
                <a:spcPts val="500"/>
              </a:spcBef>
              <a:spcAft>
                <a:spcPts val="0"/>
              </a:spcAft>
              <a:buClr>
                <a:schemeClr val="dk1"/>
              </a:buClr>
              <a:buSzPts val="1200"/>
              <a:buNone/>
              <a:defRPr sz="1600"/>
            </a:lvl7pPr>
            <a:lvl8pPr lvl="7" algn="ctr">
              <a:lnSpc>
                <a:spcPct val="90000"/>
              </a:lnSpc>
              <a:spcBef>
                <a:spcPts val="500"/>
              </a:spcBef>
              <a:spcAft>
                <a:spcPts val="0"/>
              </a:spcAft>
              <a:buClr>
                <a:schemeClr val="dk1"/>
              </a:buClr>
              <a:buSzPts val="1200"/>
              <a:buNone/>
              <a:defRPr sz="1600"/>
            </a:lvl8pPr>
            <a:lvl9pPr lvl="8" algn="ctr">
              <a:lnSpc>
                <a:spcPct val="90000"/>
              </a:lnSpc>
              <a:spcBef>
                <a:spcPts val="500"/>
              </a:spcBef>
              <a:spcAft>
                <a:spcPts val="0"/>
              </a:spcAft>
              <a:buClr>
                <a:schemeClr val="dk1"/>
              </a:buClr>
              <a:buSzPts val="1200"/>
              <a:buNone/>
              <a:defRPr sz="1600"/>
            </a:lvl9pPr>
          </a:lstStyle>
          <a:p>
            <a:endParaRPr/>
          </a:p>
        </p:txBody>
      </p:sp>
      <p:sp>
        <p:nvSpPr>
          <p:cNvPr id="59" name="Google Shape;59;p1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867868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reserve="1">
  <p:cSld name="1_Title Onl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8996065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reserve="1">
  <p:cSld name="Title and two columns">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415633" y="667900"/>
            <a:ext cx="11360800" cy="8316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9" name="Google Shape;69;p16"/>
          <p:cNvSpPr txBox="1">
            <a:spLocks noGrp="1"/>
          </p:cNvSpPr>
          <p:nvPr>
            <p:ph type="body" idx="1"/>
          </p:nvPr>
        </p:nvSpPr>
        <p:spPr>
          <a:xfrm>
            <a:off x="4156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0" name="Google Shape;70;p16"/>
          <p:cNvSpPr txBox="1">
            <a:spLocks noGrp="1"/>
          </p:cNvSpPr>
          <p:nvPr>
            <p:ph type="body" idx="2"/>
          </p:nvPr>
        </p:nvSpPr>
        <p:spPr>
          <a:xfrm>
            <a:off x="64432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1" name="Google Shape;71;p1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1pPr>
            <a:lvl2pPr marL="0" marR="0" lvl="1"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2pPr>
            <a:lvl3pPr marL="0" marR="0" lvl="2"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3pPr>
            <a:lvl4pPr marL="0" marR="0" lvl="3"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4pPr>
            <a:lvl5pPr marL="0" marR="0" lvl="4"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5pPr>
            <a:lvl6pPr marL="0" marR="0" lvl="5"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6pPr>
            <a:lvl7pPr marL="0" marR="0" lvl="6"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7pPr>
            <a:lvl8pPr marL="0" marR="0" lvl="7"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8pPr>
            <a:lvl9pPr marL="0" marR="0" lvl="8"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338757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2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840432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itle Slide">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C231BA45-897E-6944-6087-6240165B50E5}"/>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3" name="Picture 32" descr="Background pattern&#10;&#10;Description automatically generated">
            <a:extLst>
              <a:ext uri="{FF2B5EF4-FFF2-40B4-BE49-F238E27FC236}">
                <a16:creationId xmlns:a16="http://schemas.microsoft.com/office/drawing/2014/main" id="{EFA9AB53-35E7-C986-455E-730DAE713E21}"/>
              </a:ext>
            </a:extLst>
          </p:cNvPr>
          <p:cNvPicPr>
            <a:picLocks noChangeAspect="1"/>
          </p:cNvPicPr>
          <p:nvPr userDrawn="1"/>
        </p:nvPicPr>
        <p:blipFill>
          <a:blip r:embed="rId2">
            <a:alphaModFix amt="5000"/>
          </a:blip>
          <a:stretch>
            <a:fillRect/>
          </a:stretch>
        </p:blipFill>
        <p:spPr>
          <a:xfrm>
            <a:off x="-115556" y="-483657"/>
            <a:ext cx="12423112" cy="7825313"/>
          </a:xfrm>
          <a:prstGeom prst="rect">
            <a:avLst/>
          </a:prstGeom>
        </p:spPr>
      </p:pic>
      <p:sp>
        <p:nvSpPr>
          <p:cNvPr id="21" name="Title 8">
            <a:extLst>
              <a:ext uri="{FF2B5EF4-FFF2-40B4-BE49-F238E27FC236}">
                <a16:creationId xmlns:a16="http://schemas.microsoft.com/office/drawing/2014/main" id="{26398B79-7AE7-E707-3549-4CD4F080706B}"/>
              </a:ext>
            </a:extLst>
          </p:cNvPr>
          <p:cNvSpPr>
            <a:spLocks noGrp="1"/>
          </p:cNvSpPr>
          <p:nvPr>
            <p:ph type="title"/>
          </p:nvPr>
        </p:nvSpPr>
        <p:spPr>
          <a:xfrm>
            <a:off x="2435538" y="3680024"/>
            <a:ext cx="7320923" cy="1074430"/>
          </a:xfrm>
        </p:spPr>
        <p:txBody>
          <a:bodyPr>
            <a:normAutofit/>
          </a:bodyPr>
          <a:lstStyle>
            <a:lvl1pPr algn="ctr">
              <a:defRPr sz="3200">
                <a:solidFill>
                  <a:schemeClr val="bg1"/>
                </a:solidFill>
                <a:latin typeface="US Army" panose="020B0506030202020204" pitchFamily="34" charset="0"/>
              </a:defRPr>
            </a:lvl1pPr>
          </a:lstStyle>
          <a:p>
            <a:r>
              <a:rPr lang="en-US"/>
              <a:t>Click to edit Master title style</a:t>
            </a:r>
          </a:p>
        </p:txBody>
      </p:sp>
      <p:pic>
        <p:nvPicPr>
          <p:cNvPr id="16" name="Picture 15">
            <a:extLst>
              <a:ext uri="{FF2B5EF4-FFF2-40B4-BE49-F238E27FC236}">
                <a16:creationId xmlns:a16="http://schemas.microsoft.com/office/drawing/2014/main" id="{072A7EB2-87FC-606E-828A-422F1E7B2EED}"/>
              </a:ext>
            </a:extLst>
          </p:cNvPr>
          <p:cNvPicPr>
            <a:picLocks noChangeAspect="1"/>
          </p:cNvPicPr>
          <p:nvPr userDrawn="1"/>
        </p:nvPicPr>
        <p:blipFill>
          <a:blip r:embed="rId3"/>
          <a:srcRect/>
          <a:stretch/>
        </p:blipFill>
        <p:spPr>
          <a:xfrm>
            <a:off x="4615445" y="770531"/>
            <a:ext cx="2961105" cy="2817167"/>
          </a:xfrm>
          <a:prstGeom prst="rect">
            <a:avLst/>
          </a:prstGeom>
        </p:spPr>
      </p:pic>
      <p:sp>
        <p:nvSpPr>
          <p:cNvPr id="35" name="Rectangle 34">
            <a:extLst>
              <a:ext uri="{FF2B5EF4-FFF2-40B4-BE49-F238E27FC236}">
                <a16:creationId xmlns:a16="http://schemas.microsoft.com/office/drawing/2014/main" id="{7AFC274F-F310-77BE-AF72-9B8AFFBA6466}"/>
              </a:ext>
            </a:extLst>
          </p:cNvPr>
          <p:cNvSpPr/>
          <p:nvPr userDrawn="1"/>
        </p:nvSpPr>
        <p:spPr>
          <a:xfrm rot="16200000" flipH="1">
            <a:off x="6073139" y="2424835"/>
            <a:ext cx="45719" cy="4891178"/>
          </a:xfrm>
          <a:prstGeom prst="rect">
            <a:avLst/>
          </a:prstGeom>
          <a:solidFill>
            <a:srgbClr val="FFD5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926792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userDrawn="1"/>
        </p:nvPicPr>
        <p:blipFill>
          <a:blip r:embed="rId37"/>
          <a:srcRect l="26274" t="67"/>
          <a:stretch>
            <a:fillRect/>
          </a:stretch>
        </p:blipFill>
        <p:spPr>
          <a:xfrm>
            <a:off x="10428515"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9"/>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CABCB1B0-B6E5-4DD1-BB55-95C076D6C0C8}" type="datetime3">
              <a:rPr lang="en-US" smtClean="0"/>
              <a:t>8 June 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7"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64E5BE4B-2FBF-4174-9E62-85FAD1CB43A6}" type="slidenum">
              <a:rPr lang="en-US" smtClean="0"/>
              <a:pPr/>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userDrawn="1"/>
        </p:nvPicPr>
        <p:blipFill>
          <a:blip r:embed="rId38"/>
          <a:stretch>
            <a:fillRect/>
          </a:stretch>
        </p:blipFill>
        <p:spPr>
          <a:xfrm>
            <a:off x="9926021" y="424087"/>
            <a:ext cx="502495" cy="477704"/>
          </a:xfrm>
          <a:prstGeom prst="rect">
            <a:avLst/>
          </a:prstGeom>
        </p:spPr>
      </p:pic>
    </p:spTree>
    <p:extLst>
      <p:ext uri="{BB962C8B-B14F-4D97-AF65-F5344CB8AC3E}">
        <p14:creationId xmlns:p14="http://schemas.microsoft.com/office/powerpoint/2010/main" val="2231274543"/>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Lst>
  <p:hf hdr="0"/>
  <p:txStyles>
    <p:titleStyle>
      <a:lvl1pPr algn="l" defTabSz="914377"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000"/>
        </a:spcBef>
        <a:buFont typeface="Arial" panose="020B0604020202020204" pitchFamily="34" charset="0"/>
        <a:buChar char="▪"/>
        <a:defRPr sz="1700" kern="1200">
          <a:solidFill>
            <a:schemeClr val="tx1"/>
          </a:solidFill>
          <a:latin typeface="+mn-lt"/>
          <a:ea typeface="+mn-ea"/>
          <a:cs typeface="+mn-cs"/>
        </a:defRPr>
      </a:lvl1pPr>
      <a:lvl2pPr marL="365751"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2pPr>
      <a:lvl3pPr marL="548626"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3pPr>
      <a:lvl4pPr marL="731502"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377"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5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28"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0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879"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377" rtl="0" eaLnBrk="1" latinLnBrk="0" hangingPunct="1">
        <a:defRPr sz="1700" kern="1200">
          <a:solidFill>
            <a:schemeClr val="tx1"/>
          </a:solidFill>
          <a:latin typeface="+mn-lt"/>
          <a:ea typeface="+mn-ea"/>
          <a:cs typeface="+mn-cs"/>
        </a:defRPr>
      </a:lvl1pPr>
      <a:lvl2pPr marL="457189" algn="l" defTabSz="914377" rtl="0" eaLnBrk="1" latinLnBrk="0" hangingPunct="1">
        <a:defRPr sz="1700" kern="1200">
          <a:solidFill>
            <a:schemeClr val="tx1"/>
          </a:solidFill>
          <a:latin typeface="+mn-lt"/>
          <a:ea typeface="+mn-ea"/>
          <a:cs typeface="+mn-cs"/>
        </a:defRPr>
      </a:lvl2pPr>
      <a:lvl3pPr marL="914377" algn="l" defTabSz="914377" rtl="0" eaLnBrk="1" latinLnBrk="0" hangingPunct="1">
        <a:defRPr sz="1700" kern="1200">
          <a:solidFill>
            <a:schemeClr val="tx1"/>
          </a:solidFill>
          <a:latin typeface="+mn-lt"/>
          <a:ea typeface="+mn-ea"/>
          <a:cs typeface="+mn-cs"/>
        </a:defRPr>
      </a:lvl3pPr>
      <a:lvl4pPr marL="1371566" algn="l" defTabSz="914377" rtl="0" eaLnBrk="1" latinLnBrk="0" hangingPunct="1">
        <a:defRPr sz="1700" kern="1200">
          <a:solidFill>
            <a:schemeClr val="tx1"/>
          </a:solidFill>
          <a:latin typeface="+mn-lt"/>
          <a:ea typeface="+mn-ea"/>
          <a:cs typeface="+mn-cs"/>
        </a:defRPr>
      </a:lvl4pPr>
      <a:lvl5pPr marL="1828754" algn="l" defTabSz="914377" rtl="0" eaLnBrk="1" latinLnBrk="0" hangingPunct="1">
        <a:defRPr sz="1700" kern="1200">
          <a:solidFill>
            <a:schemeClr val="tx1"/>
          </a:solidFill>
          <a:latin typeface="+mn-lt"/>
          <a:ea typeface="+mn-ea"/>
          <a:cs typeface="+mn-cs"/>
        </a:defRPr>
      </a:lvl5pPr>
      <a:lvl6pPr marL="2285943" algn="l" defTabSz="914377" rtl="0" eaLnBrk="1" latinLnBrk="0" hangingPunct="1">
        <a:defRPr sz="1700" kern="1200">
          <a:solidFill>
            <a:schemeClr val="tx1"/>
          </a:solidFill>
          <a:latin typeface="+mn-lt"/>
          <a:ea typeface="+mn-ea"/>
          <a:cs typeface="+mn-cs"/>
        </a:defRPr>
      </a:lvl6pPr>
      <a:lvl7pPr marL="2743131" algn="l" defTabSz="914377" rtl="0" eaLnBrk="1" latinLnBrk="0" hangingPunct="1">
        <a:defRPr sz="1700" kern="1200">
          <a:solidFill>
            <a:schemeClr val="tx1"/>
          </a:solidFill>
          <a:latin typeface="+mn-lt"/>
          <a:ea typeface="+mn-ea"/>
          <a:cs typeface="+mn-cs"/>
        </a:defRPr>
      </a:lvl7pPr>
      <a:lvl8pPr marL="3200320" algn="l" defTabSz="914377" rtl="0" eaLnBrk="1" latinLnBrk="0" hangingPunct="1">
        <a:defRPr sz="1700" kern="1200">
          <a:solidFill>
            <a:schemeClr val="tx1"/>
          </a:solidFill>
          <a:latin typeface="+mn-lt"/>
          <a:ea typeface="+mn-ea"/>
          <a:cs typeface="+mn-cs"/>
        </a:defRPr>
      </a:lvl8pPr>
      <a:lvl9pPr marL="3657509" algn="l" defTabSz="914377"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CEDCD1-8A82-A4DE-9B35-46F95FAC732A}"/>
              </a:ext>
            </a:extLst>
          </p:cNvPr>
          <p:cNvSpPr>
            <a:spLocks noGrp="1"/>
          </p:cNvSpPr>
          <p:nvPr>
            <p:ph type="dt" sz="half" idx="49"/>
          </p:nvPr>
        </p:nvSpPr>
        <p:spPr>
          <a:xfrm>
            <a:off x="547688" y="6629400"/>
            <a:ext cx="823912" cy="228600"/>
          </a:xfrm>
        </p:spPr>
        <p:txBody>
          <a:bodyPr/>
          <a:lstStyle/>
          <a:p>
            <a:fld id="{7A3E0868-4E26-4CDC-8A56-D70E2D8B12FE}" type="datetime3">
              <a:rPr lang="en-US" smtClean="0"/>
              <a:pPr/>
              <a:t>8 June 2026</a:t>
            </a:fld>
            <a:endParaRPr lang="en-US" dirty="0"/>
          </a:p>
        </p:txBody>
      </p:sp>
      <p:sp>
        <p:nvSpPr>
          <p:cNvPr id="3" name="Slide Number Placeholder 2">
            <a:extLst>
              <a:ext uri="{FF2B5EF4-FFF2-40B4-BE49-F238E27FC236}">
                <a16:creationId xmlns:a16="http://schemas.microsoft.com/office/drawing/2014/main" id="{EDFC473F-A75E-4DC2-8570-AE774BD728DD}"/>
              </a:ext>
            </a:extLst>
          </p:cNvPr>
          <p:cNvSpPr>
            <a:spLocks noGrp="1"/>
          </p:cNvSpPr>
          <p:nvPr>
            <p:ph type="sldNum" sz="quarter" idx="50"/>
          </p:nvPr>
        </p:nvSpPr>
        <p:spPr>
          <a:xfrm>
            <a:off x="11210717" y="6629400"/>
            <a:ext cx="442001" cy="228600"/>
          </a:xfrm>
        </p:spPr>
        <p:txBody>
          <a:bodyPr/>
          <a:lstStyle/>
          <a:p>
            <a:fld id="{64E5BE4B-2FBF-4174-9E62-85FAD1CB43A6}" type="slidenum">
              <a:rPr lang="en-US" smtClean="0"/>
              <a:pPr/>
              <a:t>1</a:t>
            </a:fld>
            <a:endParaRPr lang="en-US"/>
          </a:p>
        </p:txBody>
      </p:sp>
      <p:sp>
        <p:nvSpPr>
          <p:cNvPr id="37" name="Text Placeholder 36">
            <a:extLst>
              <a:ext uri="{FF2B5EF4-FFF2-40B4-BE49-F238E27FC236}">
                <a16:creationId xmlns:a16="http://schemas.microsoft.com/office/drawing/2014/main" id="{401C1EA7-4DA4-790A-B7DE-C1EE163CE1F8}"/>
              </a:ext>
            </a:extLst>
          </p:cNvPr>
          <p:cNvSpPr>
            <a:spLocks noGrp="1"/>
          </p:cNvSpPr>
          <p:nvPr>
            <p:ph type="body" sz="quarter" idx="39"/>
          </p:nvPr>
        </p:nvSpPr>
        <p:spPr/>
        <p:txBody>
          <a:bodyPr/>
          <a:lstStyle/>
          <a:p>
            <a:endParaRPr lang="en-US"/>
          </a:p>
        </p:txBody>
      </p:sp>
      <p:sp>
        <p:nvSpPr>
          <p:cNvPr id="38" name="Text Placeholder 37">
            <a:extLst>
              <a:ext uri="{FF2B5EF4-FFF2-40B4-BE49-F238E27FC236}">
                <a16:creationId xmlns:a16="http://schemas.microsoft.com/office/drawing/2014/main" id="{37A7A1D4-52AB-EC63-5280-B57373388564}"/>
              </a:ext>
            </a:extLst>
          </p:cNvPr>
          <p:cNvSpPr>
            <a:spLocks noGrp="1"/>
          </p:cNvSpPr>
          <p:nvPr>
            <p:ph type="body" sz="quarter" idx="40"/>
          </p:nvPr>
        </p:nvSpPr>
        <p:spPr/>
        <p:txBody>
          <a:bodyPr/>
          <a:lstStyle/>
          <a:p>
            <a:endParaRPr lang="en-US"/>
          </a:p>
        </p:txBody>
      </p:sp>
      <p:sp>
        <p:nvSpPr>
          <p:cNvPr id="39" name="Text Placeholder 38">
            <a:extLst>
              <a:ext uri="{FF2B5EF4-FFF2-40B4-BE49-F238E27FC236}">
                <a16:creationId xmlns:a16="http://schemas.microsoft.com/office/drawing/2014/main" id="{004F4AD0-2EB8-6C56-5A1C-ADC03137C5A9}"/>
              </a:ext>
            </a:extLst>
          </p:cNvPr>
          <p:cNvSpPr>
            <a:spLocks noGrp="1"/>
          </p:cNvSpPr>
          <p:nvPr>
            <p:ph type="body" sz="quarter" idx="41"/>
          </p:nvPr>
        </p:nvSpPr>
        <p:spPr/>
        <p:txBody>
          <a:bodyPr/>
          <a:lstStyle/>
          <a:p>
            <a:endParaRPr lang="en-US"/>
          </a:p>
        </p:txBody>
      </p:sp>
      <p:sp>
        <p:nvSpPr>
          <p:cNvPr id="40" name="Text Placeholder 39">
            <a:extLst>
              <a:ext uri="{FF2B5EF4-FFF2-40B4-BE49-F238E27FC236}">
                <a16:creationId xmlns:a16="http://schemas.microsoft.com/office/drawing/2014/main" id="{FE9013F7-DD72-EDD1-7025-0DF67F2BADB6}"/>
              </a:ext>
            </a:extLst>
          </p:cNvPr>
          <p:cNvSpPr>
            <a:spLocks noGrp="1"/>
          </p:cNvSpPr>
          <p:nvPr>
            <p:ph type="body" sz="quarter" idx="42"/>
          </p:nvPr>
        </p:nvSpPr>
        <p:spPr/>
        <p:txBody>
          <a:bodyPr/>
          <a:lstStyle/>
          <a:p>
            <a:endParaRPr lang="en-US"/>
          </a:p>
        </p:txBody>
      </p:sp>
      <p:sp>
        <p:nvSpPr>
          <p:cNvPr id="41" name="Text Placeholder 40">
            <a:extLst>
              <a:ext uri="{FF2B5EF4-FFF2-40B4-BE49-F238E27FC236}">
                <a16:creationId xmlns:a16="http://schemas.microsoft.com/office/drawing/2014/main" id="{94FDA876-B9A7-3F23-62DD-119BF6ED235F}"/>
              </a:ext>
            </a:extLst>
          </p:cNvPr>
          <p:cNvSpPr>
            <a:spLocks noGrp="1"/>
          </p:cNvSpPr>
          <p:nvPr>
            <p:ph type="body" sz="quarter" idx="43"/>
          </p:nvPr>
        </p:nvSpPr>
        <p:spPr/>
        <p:txBody>
          <a:bodyPr/>
          <a:lstStyle/>
          <a:p>
            <a:endParaRPr lang="en-US"/>
          </a:p>
        </p:txBody>
      </p:sp>
      <p:sp>
        <p:nvSpPr>
          <p:cNvPr id="42" name="Text Placeholder 41">
            <a:extLst>
              <a:ext uri="{FF2B5EF4-FFF2-40B4-BE49-F238E27FC236}">
                <a16:creationId xmlns:a16="http://schemas.microsoft.com/office/drawing/2014/main" id="{8CE71B56-AA99-A3F7-C4A6-E787A6C05918}"/>
              </a:ext>
            </a:extLst>
          </p:cNvPr>
          <p:cNvSpPr>
            <a:spLocks noGrp="1"/>
          </p:cNvSpPr>
          <p:nvPr>
            <p:ph type="body" sz="quarter" idx="44"/>
          </p:nvPr>
        </p:nvSpPr>
        <p:spPr/>
        <p:txBody>
          <a:bodyPr/>
          <a:lstStyle/>
          <a:p>
            <a:endParaRPr lang="en-US"/>
          </a:p>
        </p:txBody>
      </p:sp>
      <p:sp>
        <p:nvSpPr>
          <p:cNvPr id="43" name="Text Placeholder 42">
            <a:extLst>
              <a:ext uri="{FF2B5EF4-FFF2-40B4-BE49-F238E27FC236}">
                <a16:creationId xmlns:a16="http://schemas.microsoft.com/office/drawing/2014/main" id="{BBCB0192-AF7A-88F1-7F0C-0A556B4F1990}"/>
              </a:ext>
            </a:extLst>
          </p:cNvPr>
          <p:cNvSpPr>
            <a:spLocks noGrp="1"/>
          </p:cNvSpPr>
          <p:nvPr>
            <p:ph type="body" sz="quarter" idx="45"/>
          </p:nvPr>
        </p:nvSpPr>
        <p:spPr/>
        <p:txBody>
          <a:bodyPr/>
          <a:lstStyle/>
          <a:p>
            <a:endParaRPr lang="en-US"/>
          </a:p>
        </p:txBody>
      </p:sp>
      <p:sp>
        <p:nvSpPr>
          <p:cNvPr id="44" name="Text Placeholder 43">
            <a:extLst>
              <a:ext uri="{FF2B5EF4-FFF2-40B4-BE49-F238E27FC236}">
                <a16:creationId xmlns:a16="http://schemas.microsoft.com/office/drawing/2014/main" id="{1291653F-3615-CB28-713E-195E9F79803F}"/>
              </a:ext>
            </a:extLst>
          </p:cNvPr>
          <p:cNvSpPr>
            <a:spLocks noGrp="1"/>
          </p:cNvSpPr>
          <p:nvPr>
            <p:ph type="body" sz="quarter" idx="46"/>
          </p:nvPr>
        </p:nvSpPr>
        <p:spPr/>
        <p:txBody>
          <a:bodyPr/>
          <a:lstStyle/>
          <a:p>
            <a:endParaRPr lang="en-US"/>
          </a:p>
        </p:txBody>
      </p:sp>
      <p:sp>
        <p:nvSpPr>
          <p:cNvPr id="45" name="Text Placeholder 44">
            <a:extLst>
              <a:ext uri="{FF2B5EF4-FFF2-40B4-BE49-F238E27FC236}">
                <a16:creationId xmlns:a16="http://schemas.microsoft.com/office/drawing/2014/main" id="{D9813360-76B2-4487-BBA6-AFA21AFDADF7}"/>
              </a:ext>
            </a:extLst>
          </p:cNvPr>
          <p:cNvSpPr>
            <a:spLocks noGrp="1"/>
          </p:cNvSpPr>
          <p:nvPr>
            <p:ph type="body" sz="quarter" idx="47"/>
          </p:nvPr>
        </p:nvSpPr>
        <p:spPr/>
        <p:txBody>
          <a:bodyPr/>
          <a:lstStyle/>
          <a:p>
            <a:endParaRPr lang="en-US"/>
          </a:p>
        </p:txBody>
      </p:sp>
      <p:sp>
        <p:nvSpPr>
          <p:cNvPr id="46" name="Text Placeholder 45">
            <a:extLst>
              <a:ext uri="{FF2B5EF4-FFF2-40B4-BE49-F238E27FC236}">
                <a16:creationId xmlns:a16="http://schemas.microsoft.com/office/drawing/2014/main" id="{3E741ECF-DCB1-2915-56F1-2A7DA563C4D5}"/>
              </a:ext>
            </a:extLst>
          </p:cNvPr>
          <p:cNvSpPr>
            <a:spLocks noGrp="1"/>
          </p:cNvSpPr>
          <p:nvPr>
            <p:ph type="body" sz="quarter" idx="48"/>
          </p:nvPr>
        </p:nvSpPr>
        <p:spPr/>
        <p:txBody>
          <a:bodyPr/>
          <a:lstStyle/>
          <a:p>
            <a:endParaRPr lang="en-US"/>
          </a:p>
        </p:txBody>
      </p:sp>
      <p:sp>
        <p:nvSpPr>
          <p:cNvPr id="14" name="Title 13">
            <a:extLst>
              <a:ext uri="{FF2B5EF4-FFF2-40B4-BE49-F238E27FC236}">
                <a16:creationId xmlns:a16="http://schemas.microsoft.com/office/drawing/2014/main" id="{EDAC0F52-3870-8062-386A-70842807E7D1}"/>
              </a:ext>
            </a:extLst>
          </p:cNvPr>
          <p:cNvSpPr>
            <a:spLocks noGrp="1"/>
          </p:cNvSpPr>
          <p:nvPr>
            <p:ph type="ctrTitle"/>
          </p:nvPr>
        </p:nvSpPr>
        <p:spPr>
          <a:xfrm>
            <a:off x="914401" y="2202820"/>
            <a:ext cx="6429375" cy="1325880"/>
          </a:xfrm>
        </p:spPr>
        <p:txBody>
          <a:bodyPr/>
          <a:lstStyle/>
          <a:p>
            <a:r>
              <a:rPr lang="en-US" dirty="0"/>
              <a:t>CLOUD RESOURCES:</a:t>
            </a:r>
            <a:br>
              <a:rPr lang="en-US" dirty="0"/>
            </a:br>
            <a:r>
              <a:rPr lang="en-US" dirty="0"/>
              <a:t>THE BASICS</a:t>
            </a:r>
          </a:p>
        </p:txBody>
      </p:sp>
      <p:sp>
        <p:nvSpPr>
          <p:cNvPr id="35" name="Subtitle 34">
            <a:extLst>
              <a:ext uri="{FF2B5EF4-FFF2-40B4-BE49-F238E27FC236}">
                <a16:creationId xmlns:a16="http://schemas.microsoft.com/office/drawing/2014/main" id="{05B598FF-5FD9-2204-1960-1EB7511CB5A8}"/>
              </a:ext>
            </a:extLst>
          </p:cNvPr>
          <p:cNvSpPr>
            <a:spLocks noGrp="1"/>
          </p:cNvSpPr>
          <p:nvPr>
            <p:ph type="subTitle" idx="1"/>
          </p:nvPr>
        </p:nvSpPr>
        <p:spPr/>
        <p:txBody>
          <a:bodyPr/>
          <a:lstStyle/>
          <a:p>
            <a:endParaRPr lang="en-US"/>
          </a:p>
        </p:txBody>
      </p:sp>
      <p:sp>
        <p:nvSpPr>
          <p:cNvPr id="36" name="Text Placeholder 35">
            <a:extLst>
              <a:ext uri="{FF2B5EF4-FFF2-40B4-BE49-F238E27FC236}">
                <a16:creationId xmlns:a16="http://schemas.microsoft.com/office/drawing/2014/main" id="{493AA575-9E49-7C9E-1560-9A520AC1D86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73773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4A4D5C-BC8B-6F74-DC55-A525DED94A7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AC388D1-E73D-9D3A-7CE4-104EC5E1C9DC}"/>
              </a:ext>
            </a:extLst>
          </p:cNvPr>
          <p:cNvSpPr txBox="1">
            <a:spLocks/>
          </p:cNvSpPr>
          <p:nvPr/>
        </p:nvSpPr>
        <p:spPr>
          <a:xfrm>
            <a:off x="-1325136"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endParaRPr lang="en-US" dirty="0">
              <a:solidFill>
                <a:schemeClr val="bg2"/>
              </a:solidFill>
              <a:latin typeface="US Army" panose="020B0506030202020204"/>
            </a:endParaRPr>
          </a:p>
        </p:txBody>
      </p:sp>
      <p:sp>
        <p:nvSpPr>
          <p:cNvPr id="2" name="Title 1">
            <a:extLst>
              <a:ext uri="{FF2B5EF4-FFF2-40B4-BE49-F238E27FC236}">
                <a16:creationId xmlns:a16="http://schemas.microsoft.com/office/drawing/2014/main" id="{85322396-BB8E-5F97-FE6B-C601D6560340}"/>
              </a:ext>
            </a:extLst>
          </p:cNvPr>
          <p:cNvSpPr txBox="1">
            <a:spLocks/>
          </p:cNvSpPr>
          <p:nvPr/>
        </p:nvSpPr>
        <p:spPr>
          <a:xfrm>
            <a:off x="835617" y="1435236"/>
            <a:ext cx="10515600" cy="4701309"/>
          </a:xfrm>
          <a:prstGeom prst="rect">
            <a:avLst/>
          </a:prstGeom>
        </p:spPr>
        <p:txBody>
          <a:bodyPr lIns="91440" tIns="45720" rIns="91440" bIns="45720"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spcBef>
                <a:spcPts val="1200"/>
              </a:spcBef>
            </a:pPr>
            <a:endParaRPr lang="en-US" dirty="0">
              <a:solidFill>
                <a:schemeClr val="bg1"/>
              </a:solidFill>
              <a:latin typeface="Arial"/>
              <a:cs typeface="Arial"/>
            </a:endParaRPr>
          </a:p>
        </p:txBody>
      </p:sp>
      <p:sp>
        <p:nvSpPr>
          <p:cNvPr id="3" name="Title 2">
            <a:extLst>
              <a:ext uri="{FF2B5EF4-FFF2-40B4-BE49-F238E27FC236}">
                <a16:creationId xmlns:a16="http://schemas.microsoft.com/office/drawing/2014/main" id="{C9957427-8B79-610A-A046-57E6F9FC0D11}"/>
              </a:ext>
            </a:extLst>
          </p:cNvPr>
          <p:cNvSpPr>
            <a:spLocks noGrp="1"/>
          </p:cNvSpPr>
          <p:nvPr>
            <p:ph type="title"/>
          </p:nvPr>
        </p:nvSpPr>
        <p:spPr>
          <a:xfrm>
            <a:off x="548640" y="360210"/>
            <a:ext cx="8231293" cy="914400"/>
          </a:xfrm>
        </p:spPr>
        <p:txBody>
          <a:bodyPr/>
          <a:lstStyle/>
          <a:p>
            <a:r>
              <a:rPr lang="en-US" dirty="0"/>
              <a:t>What is a “Cloud Resource”</a:t>
            </a:r>
            <a:br>
              <a:rPr lang="en-US" dirty="0"/>
            </a:br>
            <a:endParaRPr lang="en-US" dirty="0"/>
          </a:p>
        </p:txBody>
      </p:sp>
      <p:sp>
        <p:nvSpPr>
          <p:cNvPr id="4" name="Content Placeholder 3">
            <a:extLst>
              <a:ext uri="{FF2B5EF4-FFF2-40B4-BE49-F238E27FC236}">
                <a16:creationId xmlns:a16="http://schemas.microsoft.com/office/drawing/2014/main" id="{BF09F86B-A598-670A-8773-43962D5EAE2F}"/>
              </a:ext>
            </a:extLst>
          </p:cNvPr>
          <p:cNvSpPr>
            <a:spLocks noGrp="1"/>
          </p:cNvSpPr>
          <p:nvPr>
            <p:ph idx="1"/>
          </p:nvPr>
        </p:nvSpPr>
        <p:spPr>
          <a:xfrm>
            <a:off x="580954" y="1499890"/>
            <a:ext cx="11024925" cy="4572000"/>
          </a:xfrm>
        </p:spPr>
        <p:txBody>
          <a:bodyPr/>
          <a:lstStyle/>
          <a:p>
            <a:r>
              <a:rPr lang="en-US" dirty="0"/>
              <a:t>The Core Idea: A cloud resource is a fundamental, on-demand IT asset—like computing power, storage, or networking—that you access over the internet.</a:t>
            </a:r>
          </a:p>
          <a:p>
            <a:endParaRPr lang="en-US" dirty="0"/>
          </a:p>
          <a:p>
            <a:r>
              <a:rPr lang="en-US" dirty="0"/>
              <a:t>A Simple Analogy: Think of it like a public utility. </a:t>
            </a:r>
          </a:p>
          <a:p>
            <a:pPr lvl="1"/>
            <a:r>
              <a:rPr lang="en-US" dirty="0"/>
              <a:t>You don't build your own power plant; you simply connect to the grid and pay for the electricity you use. </a:t>
            </a:r>
          </a:p>
          <a:p>
            <a:pPr lvl="1"/>
            <a:r>
              <a:rPr lang="en-US" dirty="0"/>
              <a:t>In the same way, you don't buy and manage your own physical servers; you connect to a cloud provider's network and use the resources you need, when you need them.</a:t>
            </a:r>
          </a:p>
          <a:p>
            <a:endParaRPr lang="en-US" dirty="0"/>
          </a:p>
          <a:p>
            <a:r>
              <a:rPr lang="en-US" dirty="0"/>
              <a:t>Key Characteristics:</a:t>
            </a:r>
          </a:p>
          <a:p>
            <a:pPr lvl="1"/>
            <a:r>
              <a:rPr lang="en-US" dirty="0"/>
              <a:t>On-Demand: You can get these resources instantly, without human intervention.</a:t>
            </a:r>
          </a:p>
          <a:p>
            <a:pPr lvl="1"/>
            <a:r>
              <a:rPr lang="en-US" dirty="0"/>
              <a:t>Pay-as-you-go: You only pay for what you use, turning a large upfront cost into a simple operating expense.</a:t>
            </a:r>
          </a:p>
          <a:p>
            <a:pPr lvl="1"/>
            <a:r>
              <a:rPr lang="en-US" dirty="0"/>
              <a:t>Elastic: You can easily scale up or down to meet demand, paying for peak usage only when it's needed.</a:t>
            </a:r>
          </a:p>
          <a:p>
            <a:endParaRPr lang="en-US" dirty="0"/>
          </a:p>
        </p:txBody>
      </p:sp>
    </p:spTree>
    <p:extLst>
      <p:ext uri="{BB962C8B-B14F-4D97-AF65-F5344CB8AC3E}">
        <p14:creationId xmlns:p14="http://schemas.microsoft.com/office/powerpoint/2010/main" val="3611617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8E5C5B4-C2BE-E00C-991D-D8C80F254C63}"/>
              </a:ext>
            </a:extLst>
          </p:cNvPr>
          <p:cNvSpPr txBox="1">
            <a:spLocks/>
          </p:cNvSpPr>
          <p:nvPr/>
        </p:nvSpPr>
        <p:spPr>
          <a:xfrm>
            <a:off x="-856786"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rgbClr val="221F20"/>
                </a:solidFill>
                <a:latin typeface="US Army" panose="020B0506030202020204"/>
              </a:rPr>
              <a:t>The "Why": Driving Cloud Adoption</a:t>
            </a:r>
          </a:p>
        </p:txBody>
      </p:sp>
      <p:pic>
        <p:nvPicPr>
          <p:cNvPr id="7" name="Google Shape;517;p65">
            <a:extLst>
              <a:ext uri="{FF2B5EF4-FFF2-40B4-BE49-F238E27FC236}">
                <a16:creationId xmlns:a16="http://schemas.microsoft.com/office/drawing/2014/main" id="{6A804B6D-6923-FC15-1404-72F83A1E52BB}"/>
              </a:ext>
            </a:extLst>
          </p:cNvPr>
          <p:cNvPicPr preferRelativeResize="0"/>
          <p:nvPr/>
        </p:nvPicPr>
        <p:blipFill>
          <a:blip r:embed="rId3">
            <a:alphaModFix/>
          </a:blip>
          <a:stretch>
            <a:fillRect/>
          </a:stretch>
        </p:blipFill>
        <p:spPr>
          <a:xfrm>
            <a:off x="1758370" y="1325563"/>
            <a:ext cx="8675259" cy="4494883"/>
          </a:xfrm>
          <a:prstGeom prst="rect">
            <a:avLst/>
          </a:prstGeom>
          <a:noFill/>
          <a:ln>
            <a:noFill/>
          </a:ln>
        </p:spPr>
      </p:pic>
    </p:spTree>
    <p:extLst>
      <p:ext uri="{BB962C8B-B14F-4D97-AF65-F5344CB8AC3E}">
        <p14:creationId xmlns:p14="http://schemas.microsoft.com/office/powerpoint/2010/main" val="3867600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FE6DA-C234-58DA-BD91-35D229B862F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6C08D0A1-62C7-1474-720B-ABBFF6F76D5C}"/>
              </a:ext>
            </a:extLst>
          </p:cNvPr>
          <p:cNvSpPr txBox="1">
            <a:spLocks/>
          </p:cNvSpPr>
          <p:nvPr/>
        </p:nvSpPr>
        <p:spPr>
          <a:xfrm>
            <a:off x="-2685585"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rgbClr val="221F20"/>
                </a:solidFill>
                <a:latin typeface="US Army" panose="020B0506030202020204"/>
              </a:rPr>
              <a:t>Three Pillars</a:t>
            </a:r>
          </a:p>
        </p:txBody>
      </p:sp>
      <p:sp>
        <p:nvSpPr>
          <p:cNvPr id="2" name="Google Shape;524;p66">
            <a:extLst>
              <a:ext uri="{FF2B5EF4-FFF2-40B4-BE49-F238E27FC236}">
                <a16:creationId xmlns:a16="http://schemas.microsoft.com/office/drawing/2014/main" id="{DE8654E9-D8C0-A246-7B3D-D6819354E167}"/>
              </a:ext>
            </a:extLst>
          </p:cNvPr>
          <p:cNvSpPr txBox="1">
            <a:spLocks/>
          </p:cNvSpPr>
          <p:nvPr/>
        </p:nvSpPr>
        <p:spPr>
          <a:xfrm>
            <a:off x="1713429" y="7003139"/>
            <a:ext cx="8222700" cy="34164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sz="1400" dirty="0">
              <a:solidFill>
                <a:schemeClr val="dk1"/>
              </a:solidFill>
            </a:endParaRPr>
          </a:p>
          <a:p>
            <a:pPr marL="0" indent="0">
              <a:spcBef>
                <a:spcPts val="1200"/>
              </a:spcBef>
              <a:buClr>
                <a:schemeClr val="dk1"/>
              </a:buClr>
              <a:buSzPts val="1100"/>
              <a:buFont typeface="Arial"/>
              <a:buNone/>
            </a:pPr>
            <a:r>
              <a:rPr lang="en-US" sz="2000" b="1" dirty="0">
                <a:solidFill>
                  <a:schemeClr val="bg1"/>
                </a:solidFill>
              </a:rPr>
              <a:t>The Pillars:</a:t>
            </a:r>
            <a:endParaRPr lang="en-US" sz="2000" b="1" dirty="0">
              <a:solidFill>
                <a:schemeClr val="bg1"/>
              </a:solidFill>
              <a:cs typeface="Arial"/>
            </a:endParaRPr>
          </a:p>
          <a:p>
            <a:pPr marL="457200" indent="-304800">
              <a:spcBef>
                <a:spcPts val="1200"/>
              </a:spcBef>
              <a:buClr>
                <a:schemeClr val="bg2"/>
              </a:buClr>
              <a:buSzPts val="1200"/>
              <a:buFont typeface="Arial" panose="020B0604020202020204" pitchFamily="34" charset="0"/>
              <a:buAutoNum type="arabicPeriod"/>
            </a:pPr>
            <a:r>
              <a:rPr lang="en-US" sz="2000" b="1" dirty="0">
                <a:solidFill>
                  <a:schemeClr val="bg1"/>
                </a:solidFill>
              </a:rPr>
              <a:t>Compute:</a:t>
            </a:r>
            <a:r>
              <a:rPr lang="en-US" sz="2000" dirty="0">
                <a:solidFill>
                  <a:schemeClr val="bg1"/>
                </a:solidFill>
              </a:rPr>
              <a:t> The processing power and memory. It’s the "brain" of your cloud presence.</a:t>
            </a:r>
            <a:br>
              <a:rPr lang="en-US" sz="2000" dirty="0"/>
            </a:br>
            <a:endParaRPr lang="en-US" sz="2000" dirty="0">
              <a:solidFill>
                <a:schemeClr val="bg1"/>
              </a:solidFill>
              <a:cs typeface="Arial"/>
            </a:endParaRPr>
          </a:p>
          <a:p>
            <a:pPr marL="457200" indent="-304800">
              <a:spcBef>
                <a:spcPts val="0"/>
              </a:spcBef>
              <a:buClr>
                <a:schemeClr val="bg2"/>
              </a:buClr>
              <a:buSzPts val="1200"/>
              <a:buFont typeface="Arial" panose="020B0604020202020204" pitchFamily="34" charset="0"/>
              <a:buAutoNum type="arabicPeriod"/>
            </a:pPr>
            <a:r>
              <a:rPr lang="en-US" sz="2000" b="1" dirty="0">
                <a:solidFill>
                  <a:schemeClr val="bg1"/>
                </a:solidFill>
              </a:rPr>
              <a:t>Storage:</a:t>
            </a:r>
            <a:r>
              <a:rPr lang="en-US" sz="2000" dirty="0">
                <a:solidFill>
                  <a:schemeClr val="bg1"/>
                </a:solidFill>
              </a:rPr>
              <a:t> The persistent space where you save your data and files. It's the "memory" of the cloud.</a:t>
            </a:r>
            <a:br>
              <a:rPr lang="en-US" sz="2000" dirty="0"/>
            </a:br>
            <a:endParaRPr lang="en-US" sz="2000" dirty="0">
              <a:solidFill>
                <a:schemeClr val="bg1"/>
              </a:solidFill>
              <a:cs typeface="Arial"/>
            </a:endParaRPr>
          </a:p>
          <a:p>
            <a:pPr marL="457200" indent="-304800">
              <a:spcBef>
                <a:spcPts val="0"/>
              </a:spcBef>
              <a:buClr>
                <a:schemeClr val="bg2"/>
              </a:buClr>
              <a:buSzPts val="1200"/>
              <a:buFont typeface="Arial" panose="020B0604020202020204" pitchFamily="34" charset="0"/>
              <a:buAutoNum type="arabicPeriod"/>
            </a:pPr>
            <a:r>
              <a:rPr lang="en-US" sz="2000" b="1" dirty="0">
                <a:solidFill>
                  <a:schemeClr val="bg1"/>
                </a:solidFill>
              </a:rPr>
              <a:t>Networking:</a:t>
            </a:r>
            <a:r>
              <a:rPr lang="en-US" sz="2000" dirty="0">
                <a:solidFill>
                  <a:schemeClr val="bg1"/>
                </a:solidFill>
              </a:rPr>
              <a:t> The infrastructure that connects your resources, allowing them to communicate with each other and with the rest of the internet. It's the "nervous system."</a:t>
            </a:r>
            <a:endParaRPr lang="en-US" sz="2000" dirty="0">
              <a:solidFill>
                <a:schemeClr val="bg1"/>
              </a:solidFill>
              <a:cs typeface="Arial"/>
            </a:endParaRPr>
          </a:p>
          <a:p>
            <a:pPr marL="0" indent="0">
              <a:spcBef>
                <a:spcPts val="1200"/>
              </a:spcBef>
              <a:spcAft>
                <a:spcPts val="1200"/>
              </a:spcAft>
              <a:buFont typeface="Arial" panose="020B0604020202020204" pitchFamily="34" charset="0"/>
              <a:buNone/>
            </a:pPr>
            <a:endParaRPr lang="en-US" sz="1400" b="1" dirty="0">
              <a:solidFill>
                <a:schemeClr val="dk1"/>
              </a:solidFill>
            </a:endParaRPr>
          </a:p>
        </p:txBody>
      </p:sp>
      <p:pic>
        <p:nvPicPr>
          <p:cNvPr id="4" name="Picture 3">
            <a:extLst>
              <a:ext uri="{FF2B5EF4-FFF2-40B4-BE49-F238E27FC236}">
                <a16:creationId xmlns:a16="http://schemas.microsoft.com/office/drawing/2014/main" id="{1D0833C6-CAA4-0E9E-C261-4F9297F84B31}"/>
              </a:ext>
            </a:extLst>
          </p:cNvPr>
          <p:cNvPicPr>
            <a:picLocks noChangeAspect="1"/>
          </p:cNvPicPr>
          <p:nvPr/>
        </p:nvPicPr>
        <p:blipFill>
          <a:blip r:embed="rId3"/>
          <a:stretch>
            <a:fillRect/>
          </a:stretch>
        </p:blipFill>
        <p:spPr>
          <a:xfrm>
            <a:off x="952500" y="1071966"/>
            <a:ext cx="10287000" cy="5256509"/>
          </a:xfrm>
          <a:prstGeom prst="rect">
            <a:avLst/>
          </a:prstGeom>
        </p:spPr>
      </p:pic>
    </p:spTree>
    <p:extLst>
      <p:ext uri="{BB962C8B-B14F-4D97-AF65-F5344CB8AC3E}">
        <p14:creationId xmlns:p14="http://schemas.microsoft.com/office/powerpoint/2010/main" val="3243134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EE988-B1F5-089F-7FC8-B5C14F95F22C}"/>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C891E14-06E9-83BD-38A5-75673BAF8381}"/>
              </a:ext>
            </a:extLst>
          </p:cNvPr>
          <p:cNvSpPr txBox="1">
            <a:spLocks/>
          </p:cNvSpPr>
          <p:nvPr/>
        </p:nvSpPr>
        <p:spPr>
          <a:xfrm>
            <a:off x="-572197"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rgbClr val="221F20"/>
                </a:solidFill>
                <a:latin typeface="US Army" panose="020B0506030202020204"/>
              </a:rPr>
              <a:t>Compute: The Engine of the Cloud</a:t>
            </a:r>
          </a:p>
        </p:txBody>
      </p:sp>
      <p:sp>
        <p:nvSpPr>
          <p:cNvPr id="4" name="TextBox 3">
            <a:extLst>
              <a:ext uri="{FF2B5EF4-FFF2-40B4-BE49-F238E27FC236}">
                <a16:creationId xmlns:a16="http://schemas.microsoft.com/office/drawing/2014/main" id="{6D5AEBDA-DE34-6856-A5FB-8D388A8A9B43}"/>
              </a:ext>
            </a:extLst>
          </p:cNvPr>
          <p:cNvSpPr txBox="1"/>
          <p:nvPr/>
        </p:nvSpPr>
        <p:spPr>
          <a:xfrm>
            <a:off x="413288" y="1101088"/>
            <a:ext cx="11455830" cy="716286"/>
          </a:xfrm>
          <a:prstGeom prst="rect">
            <a:avLst/>
          </a:prstGeom>
          <a:noFill/>
        </p:spPr>
        <p:txBody>
          <a:bodyPr wrap="square" lIns="91440" tIns="45720" rIns="91440" bIns="45720" anchor="t">
            <a:spAutoFit/>
          </a:bodyPr>
          <a:lstStyle/>
          <a:p>
            <a:pPr>
              <a:lnSpc>
                <a:spcPct val="105000"/>
              </a:lnSpc>
              <a:spcBef>
                <a:spcPts val="1200"/>
              </a:spcBef>
              <a:buSzPts val="688"/>
            </a:pPr>
            <a:r>
              <a:rPr lang="en-US" sz="2000" b="1" dirty="0">
                <a:solidFill>
                  <a:schemeClr val="bg1"/>
                </a:solidFill>
              </a:rPr>
              <a:t>What it is:</a:t>
            </a:r>
            <a:r>
              <a:rPr lang="en-US" sz="2000" dirty="0">
                <a:solidFill>
                  <a:schemeClr val="bg1"/>
                </a:solidFill>
              </a:rPr>
              <a:t>  Provides the computational power necessary to execute your applications, services, and workloads.</a:t>
            </a:r>
            <a:endParaRPr lang="en-US" sz="2000" dirty="0">
              <a:solidFill>
                <a:schemeClr val="bg1"/>
              </a:solidFill>
              <a:cs typeface="Arial"/>
            </a:endParaRPr>
          </a:p>
        </p:txBody>
      </p:sp>
      <p:sp>
        <p:nvSpPr>
          <p:cNvPr id="3" name="Google Shape;537;p68">
            <a:extLst>
              <a:ext uri="{FF2B5EF4-FFF2-40B4-BE49-F238E27FC236}">
                <a16:creationId xmlns:a16="http://schemas.microsoft.com/office/drawing/2014/main" id="{02CFC4D2-CD78-6C66-6406-C3CA5306814E}"/>
              </a:ext>
            </a:extLst>
          </p:cNvPr>
          <p:cNvSpPr txBox="1">
            <a:spLocks/>
          </p:cNvSpPr>
          <p:nvPr/>
        </p:nvSpPr>
        <p:spPr>
          <a:xfrm>
            <a:off x="544175" y="1331996"/>
            <a:ext cx="11103650" cy="438054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rgbClr val="000000"/>
              </a:buClr>
              <a:buSzPts val="1100"/>
              <a:buNone/>
            </a:pPr>
            <a:endParaRPr lang="en-US" sz="2000" b="1" dirty="0">
              <a:solidFill>
                <a:srgbClr val="221F20"/>
              </a:solidFill>
            </a:endParaRPr>
          </a:p>
          <a:p>
            <a:pPr marL="0" indent="0">
              <a:spcBef>
                <a:spcPts val="0"/>
              </a:spcBef>
              <a:buSzPts val="1100"/>
              <a:buFont typeface="Arial"/>
              <a:buNone/>
            </a:pPr>
            <a:r>
              <a:rPr lang="en-US" sz="2000" b="1" dirty="0">
                <a:solidFill>
                  <a:srgbClr val="221F20"/>
                </a:solidFill>
              </a:rPr>
              <a:t>What it is:</a:t>
            </a:r>
            <a:r>
              <a:rPr lang="en-US" sz="2000" dirty="0">
                <a:solidFill>
                  <a:srgbClr val="221F20"/>
                </a:solidFill>
              </a:rPr>
              <a:t>  Persistently store and retrieve your digital information.</a:t>
            </a:r>
            <a:endParaRPr lang="en-US" sz="2000" dirty="0">
              <a:solidFill>
                <a:srgbClr val="221F20"/>
              </a:solidFill>
              <a:cs typeface="Arial"/>
            </a:endParaRPr>
          </a:p>
          <a:p>
            <a:pPr marL="0" indent="0">
              <a:spcBef>
                <a:spcPts val="1200"/>
              </a:spcBef>
              <a:buFont typeface="Arial" panose="020B0604020202020204" pitchFamily="34" charset="0"/>
              <a:buNone/>
            </a:pPr>
            <a:endParaRPr lang="en-US" sz="2000" dirty="0">
              <a:solidFill>
                <a:srgbClr val="221F20"/>
              </a:solidFill>
            </a:endParaRPr>
          </a:p>
          <a:p>
            <a:pPr marL="0" indent="0">
              <a:spcBef>
                <a:spcPts val="1200"/>
              </a:spcBef>
              <a:buClr>
                <a:schemeClr val="dk1"/>
              </a:buClr>
              <a:buSzPts val="1100"/>
              <a:buFont typeface="Arial"/>
              <a:buNone/>
            </a:pPr>
            <a:r>
              <a:rPr lang="en-US" sz="2000" b="1" dirty="0">
                <a:solidFill>
                  <a:srgbClr val="221F20"/>
                </a:solidFill>
              </a:rPr>
              <a:t>Common Resources:</a:t>
            </a:r>
            <a:endParaRPr lang="en-US" sz="2000" b="1" dirty="0">
              <a:solidFill>
                <a:srgbClr val="221F20"/>
              </a:solidFill>
              <a:cs typeface="Arial"/>
            </a:endParaRPr>
          </a:p>
          <a:p>
            <a:pPr marL="457200" indent="-304800">
              <a:buClr>
                <a:srgbClr val="FFCC01"/>
              </a:buClr>
              <a:buSzPts val="1200"/>
              <a:buChar char="●"/>
            </a:pPr>
            <a:r>
              <a:rPr lang="en-US" sz="2000" b="1" dirty="0">
                <a:solidFill>
                  <a:srgbClr val="221F20"/>
                </a:solidFill>
                <a:cs typeface="Arial"/>
              </a:rPr>
              <a:t>Block Storage</a:t>
            </a:r>
            <a:r>
              <a:rPr lang="en-US" sz="2000" dirty="0">
                <a:solidFill>
                  <a:srgbClr val="221F20"/>
                </a:solidFill>
                <a:cs typeface="Arial"/>
              </a:rPr>
              <a:t>: Raw storage volumes attached to compute instances (like virtual hard drives); ideal for databases and operating systems.</a:t>
            </a:r>
          </a:p>
          <a:p>
            <a:pPr marL="457200" indent="-304800">
              <a:buClr>
                <a:srgbClr val="FFCC01"/>
              </a:buClr>
              <a:buSzPts val="1200"/>
              <a:buChar char="●"/>
            </a:pPr>
            <a:endParaRPr lang="en-US" sz="2000" dirty="0">
              <a:solidFill>
                <a:srgbClr val="221F20"/>
              </a:solidFill>
              <a:cs typeface="Arial"/>
            </a:endParaRPr>
          </a:p>
          <a:p>
            <a:pPr marL="457200" indent="-304800">
              <a:spcBef>
                <a:spcPts val="0"/>
              </a:spcBef>
              <a:buClr>
                <a:srgbClr val="FFCC01"/>
              </a:buClr>
              <a:buSzPts val="1200"/>
              <a:buChar char="●"/>
            </a:pPr>
            <a:r>
              <a:rPr lang="en-US" sz="2000" b="1" dirty="0">
                <a:solidFill>
                  <a:srgbClr val="221F20"/>
                </a:solidFill>
                <a:cs typeface="Arial"/>
              </a:rPr>
              <a:t>File Storage</a:t>
            </a:r>
            <a:r>
              <a:rPr lang="en-US" sz="2000" dirty="0">
                <a:solidFill>
                  <a:srgbClr val="221F20"/>
                </a:solidFill>
                <a:cs typeface="Arial"/>
              </a:rPr>
              <a:t>: Shared, hierarchical storage accessed via file paths; commonly used for shared files, content management, and home directories.</a:t>
            </a:r>
            <a:endParaRPr lang="en-US" dirty="0">
              <a:solidFill>
                <a:srgbClr val="221F20"/>
              </a:solidFill>
            </a:endParaRPr>
          </a:p>
          <a:p>
            <a:pPr marL="457200" indent="-304800">
              <a:spcBef>
                <a:spcPts val="0"/>
              </a:spcBef>
              <a:buClr>
                <a:srgbClr val="FFCC01"/>
              </a:buClr>
              <a:buSzPts val="1200"/>
              <a:buChar char="●"/>
            </a:pPr>
            <a:endParaRPr lang="en-US" sz="2000" dirty="0">
              <a:solidFill>
                <a:srgbClr val="221F20"/>
              </a:solidFill>
              <a:cs typeface="Arial"/>
            </a:endParaRPr>
          </a:p>
          <a:p>
            <a:pPr marL="457200" indent="-304800">
              <a:spcBef>
                <a:spcPts val="0"/>
              </a:spcBef>
              <a:buClr>
                <a:srgbClr val="FFCC01"/>
              </a:buClr>
              <a:buSzPts val="1200"/>
              <a:buChar char="●"/>
            </a:pPr>
            <a:r>
              <a:rPr lang="en-US" sz="2000" b="1" dirty="0">
                <a:solidFill>
                  <a:srgbClr val="221F20"/>
                </a:solidFill>
                <a:cs typeface="Arial"/>
              </a:rPr>
              <a:t>Object Storage</a:t>
            </a:r>
            <a:r>
              <a:rPr lang="en-US" sz="2000" dirty="0">
                <a:solidFill>
                  <a:srgbClr val="221F20"/>
                </a:solidFill>
                <a:cs typeface="Arial"/>
              </a:rPr>
              <a:t>: Stores data as objects with metadata in a flat structure; highly scalable and cost-effective for backups, media, and archives.</a:t>
            </a:r>
            <a:endParaRPr lang="en-US" dirty="0">
              <a:solidFill>
                <a:srgbClr val="221F20"/>
              </a:solidFill>
            </a:endParaRPr>
          </a:p>
          <a:p>
            <a:pPr marL="457200" indent="-304800">
              <a:spcBef>
                <a:spcPts val="0"/>
              </a:spcBef>
              <a:buClr>
                <a:srgbClr val="FFCC01"/>
              </a:buClr>
              <a:buSzPts val="1200"/>
              <a:buChar char="●"/>
            </a:pPr>
            <a:endParaRPr lang="en-US" sz="2000" dirty="0">
              <a:solidFill>
                <a:srgbClr val="221F20"/>
              </a:solidFill>
              <a:cs typeface="Arial"/>
            </a:endParaRPr>
          </a:p>
          <a:p>
            <a:pPr marL="0" indent="0">
              <a:spcBef>
                <a:spcPts val="1200"/>
              </a:spcBef>
              <a:spcAft>
                <a:spcPts val="1200"/>
              </a:spcAft>
              <a:buNone/>
            </a:pPr>
            <a:endParaRPr lang="en-US" sz="1400" dirty="0">
              <a:solidFill>
                <a:srgbClr val="221F20"/>
              </a:solidFill>
              <a:highlight>
                <a:srgbClr val="FFFFFF"/>
              </a:highlight>
              <a:cs typeface="Arial"/>
            </a:endParaRPr>
          </a:p>
        </p:txBody>
      </p:sp>
    </p:spTree>
    <p:extLst>
      <p:ext uri="{BB962C8B-B14F-4D97-AF65-F5344CB8AC3E}">
        <p14:creationId xmlns:p14="http://schemas.microsoft.com/office/powerpoint/2010/main" val="3595829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1F39F-74F7-6E9F-965D-3ED555B5375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9F6C55C-9770-570E-7A48-A2C91A1C1180}"/>
              </a:ext>
            </a:extLst>
          </p:cNvPr>
          <p:cNvSpPr txBox="1">
            <a:spLocks/>
          </p:cNvSpPr>
          <p:nvPr/>
        </p:nvSpPr>
        <p:spPr>
          <a:xfrm>
            <a:off x="-572197"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rgbClr val="221F20"/>
                </a:solidFill>
                <a:latin typeface="US Army" panose="020B0506030202020204"/>
              </a:rPr>
              <a:t>Compute: The Engine of the Cloud</a:t>
            </a:r>
          </a:p>
        </p:txBody>
      </p:sp>
      <p:pic>
        <p:nvPicPr>
          <p:cNvPr id="2" name="Google Shape;531;p67">
            <a:extLst>
              <a:ext uri="{FF2B5EF4-FFF2-40B4-BE49-F238E27FC236}">
                <a16:creationId xmlns:a16="http://schemas.microsoft.com/office/drawing/2014/main" id="{C064B46C-8A48-CE6F-7966-4A3C1EFB12D7}"/>
              </a:ext>
            </a:extLst>
          </p:cNvPr>
          <p:cNvPicPr preferRelativeResize="0"/>
          <p:nvPr/>
        </p:nvPicPr>
        <p:blipFill>
          <a:blip r:embed="rId3">
            <a:alphaModFix/>
          </a:blip>
          <a:stretch>
            <a:fillRect/>
          </a:stretch>
        </p:blipFill>
        <p:spPr>
          <a:xfrm>
            <a:off x="915728" y="1880262"/>
            <a:ext cx="10447597" cy="4534744"/>
          </a:xfrm>
          <a:prstGeom prst="rect">
            <a:avLst/>
          </a:prstGeom>
          <a:noFill/>
          <a:ln>
            <a:noFill/>
          </a:ln>
        </p:spPr>
      </p:pic>
      <p:sp>
        <p:nvSpPr>
          <p:cNvPr id="4" name="TextBox 3">
            <a:extLst>
              <a:ext uri="{FF2B5EF4-FFF2-40B4-BE49-F238E27FC236}">
                <a16:creationId xmlns:a16="http://schemas.microsoft.com/office/drawing/2014/main" id="{3416039C-C5E8-B691-4048-EA77E4BF7020}"/>
              </a:ext>
            </a:extLst>
          </p:cNvPr>
          <p:cNvSpPr txBox="1"/>
          <p:nvPr/>
        </p:nvSpPr>
        <p:spPr>
          <a:xfrm>
            <a:off x="413288" y="1101088"/>
            <a:ext cx="11455830" cy="716286"/>
          </a:xfrm>
          <a:prstGeom prst="rect">
            <a:avLst/>
          </a:prstGeom>
          <a:noFill/>
        </p:spPr>
        <p:txBody>
          <a:bodyPr wrap="square" lIns="91440" tIns="45720" rIns="91440" bIns="45720" anchor="t">
            <a:spAutoFit/>
          </a:bodyPr>
          <a:lstStyle/>
          <a:p>
            <a:pPr>
              <a:lnSpc>
                <a:spcPct val="105000"/>
              </a:lnSpc>
              <a:spcBef>
                <a:spcPts val="1200"/>
              </a:spcBef>
              <a:buSzPts val="688"/>
            </a:pPr>
            <a:r>
              <a:rPr lang="en-US" sz="2000" b="1" dirty="0">
                <a:solidFill>
                  <a:schemeClr val="bg1"/>
                </a:solidFill>
              </a:rPr>
              <a:t>What it is:</a:t>
            </a:r>
            <a:r>
              <a:rPr lang="en-US" sz="2000" dirty="0">
                <a:solidFill>
                  <a:schemeClr val="bg1"/>
                </a:solidFill>
              </a:rPr>
              <a:t>  Provides the computational power necessary to execute your applications, services, and workloads.</a:t>
            </a:r>
            <a:endParaRPr lang="en-US" sz="2000" dirty="0">
              <a:solidFill>
                <a:schemeClr val="bg1"/>
              </a:solidFill>
              <a:cs typeface="Arial"/>
            </a:endParaRPr>
          </a:p>
        </p:txBody>
      </p:sp>
    </p:spTree>
    <p:extLst>
      <p:ext uri="{BB962C8B-B14F-4D97-AF65-F5344CB8AC3E}">
        <p14:creationId xmlns:p14="http://schemas.microsoft.com/office/powerpoint/2010/main" val="27419156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F3EC5-65E1-340A-AC35-5997D059BB3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C654BA0-4BF4-37D4-9469-C2D6D562245F}"/>
              </a:ext>
            </a:extLst>
          </p:cNvPr>
          <p:cNvSpPr txBox="1">
            <a:spLocks/>
          </p:cNvSpPr>
          <p:nvPr/>
        </p:nvSpPr>
        <p:spPr>
          <a:xfrm>
            <a:off x="-1414346"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rgbClr val="221F20"/>
                </a:solidFill>
                <a:latin typeface="US Army" panose="020B0506030202020204"/>
              </a:rPr>
              <a:t>Storage: The Data Repository</a:t>
            </a:r>
          </a:p>
        </p:txBody>
      </p:sp>
      <p:sp>
        <p:nvSpPr>
          <p:cNvPr id="2" name="Google Shape;537;p68">
            <a:extLst>
              <a:ext uri="{FF2B5EF4-FFF2-40B4-BE49-F238E27FC236}">
                <a16:creationId xmlns:a16="http://schemas.microsoft.com/office/drawing/2014/main" id="{51856635-11D3-FF5A-49FD-A18D504FB240}"/>
              </a:ext>
            </a:extLst>
          </p:cNvPr>
          <p:cNvSpPr txBox="1">
            <a:spLocks/>
          </p:cNvSpPr>
          <p:nvPr/>
        </p:nvSpPr>
        <p:spPr>
          <a:xfrm>
            <a:off x="544175" y="1331996"/>
            <a:ext cx="11103650" cy="438054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rgbClr val="000000"/>
              </a:buClr>
              <a:buSzPts val="1100"/>
              <a:buNone/>
            </a:pPr>
            <a:endParaRPr lang="en-US" sz="2000" b="1" dirty="0">
              <a:solidFill>
                <a:srgbClr val="221F20"/>
              </a:solidFill>
            </a:endParaRPr>
          </a:p>
          <a:p>
            <a:pPr marL="0" indent="0">
              <a:spcBef>
                <a:spcPts val="0"/>
              </a:spcBef>
              <a:buSzPts val="1100"/>
              <a:buFont typeface="Arial"/>
              <a:buNone/>
            </a:pPr>
            <a:r>
              <a:rPr lang="en-US" sz="2000" b="1" dirty="0">
                <a:solidFill>
                  <a:srgbClr val="221F20"/>
                </a:solidFill>
              </a:rPr>
              <a:t>What it is:</a:t>
            </a:r>
            <a:r>
              <a:rPr lang="en-US" sz="2000" dirty="0">
                <a:solidFill>
                  <a:srgbClr val="221F20"/>
                </a:solidFill>
              </a:rPr>
              <a:t>  Persistently store and retrieve your digital information.</a:t>
            </a:r>
            <a:endParaRPr lang="en-US" sz="2000" dirty="0">
              <a:solidFill>
                <a:srgbClr val="221F20"/>
              </a:solidFill>
              <a:cs typeface="Arial"/>
            </a:endParaRPr>
          </a:p>
          <a:p>
            <a:pPr marL="0" indent="0">
              <a:spcBef>
                <a:spcPts val="1200"/>
              </a:spcBef>
              <a:buFont typeface="Arial" panose="020B0604020202020204" pitchFamily="34" charset="0"/>
              <a:buNone/>
            </a:pPr>
            <a:endParaRPr lang="en-US" sz="2000" dirty="0">
              <a:solidFill>
                <a:srgbClr val="221F20"/>
              </a:solidFill>
            </a:endParaRPr>
          </a:p>
          <a:p>
            <a:pPr marL="0" indent="0">
              <a:spcBef>
                <a:spcPts val="1200"/>
              </a:spcBef>
              <a:buClr>
                <a:schemeClr val="dk1"/>
              </a:buClr>
              <a:buSzPts val="1100"/>
              <a:buFont typeface="Arial"/>
              <a:buNone/>
            </a:pPr>
            <a:r>
              <a:rPr lang="en-US" sz="2000" b="1" dirty="0">
                <a:solidFill>
                  <a:srgbClr val="221F20"/>
                </a:solidFill>
              </a:rPr>
              <a:t>Common Resources:</a:t>
            </a:r>
            <a:endParaRPr lang="en-US" sz="2000" b="1" dirty="0">
              <a:solidFill>
                <a:srgbClr val="221F20"/>
              </a:solidFill>
              <a:cs typeface="Arial"/>
            </a:endParaRPr>
          </a:p>
          <a:p>
            <a:pPr marL="457200" indent="-304800">
              <a:buClr>
                <a:srgbClr val="FFCC01"/>
              </a:buClr>
              <a:buSzPts val="1200"/>
              <a:buChar char="●"/>
            </a:pPr>
            <a:r>
              <a:rPr lang="en-US" sz="2000" b="1" dirty="0">
                <a:solidFill>
                  <a:srgbClr val="221F20"/>
                </a:solidFill>
                <a:cs typeface="Arial"/>
              </a:rPr>
              <a:t>Block Storage</a:t>
            </a:r>
            <a:r>
              <a:rPr lang="en-US" sz="2000" dirty="0">
                <a:solidFill>
                  <a:srgbClr val="221F20"/>
                </a:solidFill>
                <a:cs typeface="Arial"/>
              </a:rPr>
              <a:t>: Raw storage volumes attached to compute instances (like virtual hard drives); ideal for databases and operating systems.</a:t>
            </a:r>
          </a:p>
          <a:p>
            <a:pPr marL="457200" indent="-304800">
              <a:buClr>
                <a:srgbClr val="FFCC01"/>
              </a:buClr>
              <a:buSzPts val="1200"/>
              <a:buChar char="●"/>
            </a:pPr>
            <a:endParaRPr lang="en-US" sz="2000" dirty="0">
              <a:solidFill>
                <a:srgbClr val="221F20"/>
              </a:solidFill>
              <a:cs typeface="Arial"/>
            </a:endParaRPr>
          </a:p>
          <a:p>
            <a:pPr marL="457200" indent="-304800">
              <a:spcBef>
                <a:spcPts val="0"/>
              </a:spcBef>
              <a:buClr>
                <a:srgbClr val="FFCC01"/>
              </a:buClr>
              <a:buSzPts val="1200"/>
              <a:buChar char="●"/>
            </a:pPr>
            <a:r>
              <a:rPr lang="en-US" sz="2000" b="1" dirty="0">
                <a:solidFill>
                  <a:srgbClr val="221F20"/>
                </a:solidFill>
                <a:cs typeface="Arial"/>
              </a:rPr>
              <a:t>File Storage</a:t>
            </a:r>
            <a:r>
              <a:rPr lang="en-US" sz="2000" dirty="0">
                <a:solidFill>
                  <a:srgbClr val="221F20"/>
                </a:solidFill>
                <a:cs typeface="Arial"/>
              </a:rPr>
              <a:t>: Shared, hierarchical storage accessed via file paths; commonly used for shared files, content management, and home directories.</a:t>
            </a:r>
            <a:endParaRPr lang="en-US" dirty="0">
              <a:solidFill>
                <a:srgbClr val="221F20"/>
              </a:solidFill>
            </a:endParaRPr>
          </a:p>
          <a:p>
            <a:pPr marL="457200" indent="-304800">
              <a:spcBef>
                <a:spcPts val="0"/>
              </a:spcBef>
              <a:buClr>
                <a:srgbClr val="FFCC01"/>
              </a:buClr>
              <a:buSzPts val="1200"/>
              <a:buChar char="●"/>
            </a:pPr>
            <a:endParaRPr lang="en-US" sz="2000" dirty="0">
              <a:solidFill>
                <a:srgbClr val="221F20"/>
              </a:solidFill>
              <a:cs typeface="Arial"/>
            </a:endParaRPr>
          </a:p>
          <a:p>
            <a:pPr marL="457200" indent="-304800">
              <a:spcBef>
                <a:spcPts val="0"/>
              </a:spcBef>
              <a:buClr>
                <a:srgbClr val="FFCC01"/>
              </a:buClr>
              <a:buSzPts val="1200"/>
              <a:buChar char="●"/>
            </a:pPr>
            <a:r>
              <a:rPr lang="en-US" sz="2000" b="1" dirty="0">
                <a:solidFill>
                  <a:srgbClr val="221F20"/>
                </a:solidFill>
                <a:cs typeface="Arial"/>
              </a:rPr>
              <a:t>Object Storage</a:t>
            </a:r>
            <a:r>
              <a:rPr lang="en-US" sz="2000" dirty="0">
                <a:solidFill>
                  <a:srgbClr val="221F20"/>
                </a:solidFill>
                <a:cs typeface="Arial"/>
              </a:rPr>
              <a:t>: Stores data as objects with metadata in a flat structure; highly scalable and cost-effective for backups, media, and archives.</a:t>
            </a:r>
            <a:endParaRPr lang="en-US" dirty="0">
              <a:solidFill>
                <a:srgbClr val="221F20"/>
              </a:solidFill>
            </a:endParaRPr>
          </a:p>
          <a:p>
            <a:pPr marL="457200" indent="-304800">
              <a:spcBef>
                <a:spcPts val="0"/>
              </a:spcBef>
              <a:buClr>
                <a:srgbClr val="FFCC01"/>
              </a:buClr>
              <a:buSzPts val="1200"/>
              <a:buChar char="●"/>
            </a:pPr>
            <a:endParaRPr lang="en-US" sz="2000" dirty="0">
              <a:solidFill>
                <a:srgbClr val="221F20"/>
              </a:solidFill>
              <a:cs typeface="Arial"/>
            </a:endParaRPr>
          </a:p>
          <a:p>
            <a:pPr marL="0" indent="0">
              <a:spcBef>
                <a:spcPts val="1200"/>
              </a:spcBef>
              <a:spcAft>
                <a:spcPts val="1200"/>
              </a:spcAft>
              <a:buNone/>
            </a:pPr>
            <a:endParaRPr lang="en-US" sz="1400" dirty="0">
              <a:solidFill>
                <a:srgbClr val="221F20"/>
              </a:solidFill>
              <a:highlight>
                <a:srgbClr val="FFFFFF"/>
              </a:highlight>
              <a:cs typeface="Arial"/>
            </a:endParaRPr>
          </a:p>
        </p:txBody>
      </p:sp>
    </p:spTree>
    <p:extLst>
      <p:ext uri="{BB962C8B-B14F-4D97-AF65-F5344CB8AC3E}">
        <p14:creationId xmlns:p14="http://schemas.microsoft.com/office/powerpoint/2010/main" val="1860363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2F6B9-4B6F-FF3B-2E2B-DC2BC960657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AA803EBB-C7FC-1303-D90C-92B008E59286}"/>
              </a:ext>
            </a:extLst>
          </p:cNvPr>
          <p:cNvSpPr txBox="1">
            <a:spLocks/>
          </p:cNvSpPr>
          <p:nvPr/>
        </p:nvSpPr>
        <p:spPr>
          <a:xfrm>
            <a:off x="-1414346"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rgbClr val="221F20"/>
                </a:solidFill>
                <a:latin typeface="US Army" panose="020B0506030202020204"/>
              </a:rPr>
              <a:t>Storage: The Data Repository</a:t>
            </a:r>
          </a:p>
        </p:txBody>
      </p:sp>
      <p:pic>
        <p:nvPicPr>
          <p:cNvPr id="1026" name="Picture 2" descr="Microsoft Azure: Storage Types Overview">
            <a:extLst>
              <a:ext uri="{FF2B5EF4-FFF2-40B4-BE49-F238E27FC236}">
                <a16:creationId xmlns:a16="http://schemas.microsoft.com/office/drawing/2014/main" id="{E2986C99-743B-2D14-220F-EDCE54BB5B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5543" y="1195266"/>
            <a:ext cx="8313431" cy="5403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0867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8BBA3-21E1-D099-896E-A20D7755DB84}"/>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F34C4CA0-4BB2-98FB-A353-49FD7608F503}"/>
              </a:ext>
            </a:extLst>
          </p:cNvPr>
          <p:cNvSpPr txBox="1">
            <a:spLocks/>
          </p:cNvSpPr>
          <p:nvPr/>
        </p:nvSpPr>
        <p:spPr>
          <a:xfrm>
            <a:off x="-633761"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rgbClr val="221F20"/>
                </a:solidFill>
                <a:latin typeface="US Army" panose="020B0506030202020204"/>
              </a:rPr>
              <a:t>Networking: The Connectivity Fabric</a:t>
            </a:r>
          </a:p>
        </p:txBody>
      </p:sp>
      <p:sp>
        <p:nvSpPr>
          <p:cNvPr id="4" name="Google Shape;537;p68">
            <a:extLst>
              <a:ext uri="{FF2B5EF4-FFF2-40B4-BE49-F238E27FC236}">
                <a16:creationId xmlns:a16="http://schemas.microsoft.com/office/drawing/2014/main" id="{2EA11855-7ED3-4E25-2DD2-BB32B9D68B63}"/>
              </a:ext>
            </a:extLst>
          </p:cNvPr>
          <p:cNvSpPr txBox="1">
            <a:spLocks/>
          </p:cNvSpPr>
          <p:nvPr/>
        </p:nvSpPr>
        <p:spPr>
          <a:xfrm>
            <a:off x="544174" y="1331998"/>
            <a:ext cx="11103650" cy="34164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1100"/>
              <a:buNone/>
            </a:pPr>
            <a:r>
              <a:rPr lang="en-US" sz="2000" b="1" dirty="0">
                <a:solidFill>
                  <a:srgbClr val="221F20"/>
                </a:solidFill>
              </a:rPr>
              <a:t>What it is:</a:t>
            </a:r>
            <a:r>
              <a:rPr lang="en-US" sz="2000" dirty="0">
                <a:solidFill>
                  <a:srgbClr val="221F20"/>
                </a:solidFill>
              </a:rPr>
              <a:t>  The infrastructure that connects your cloud resources and manages traffic to / from the internet.</a:t>
            </a:r>
            <a:endParaRPr lang="en-US" sz="2000" dirty="0">
              <a:solidFill>
                <a:srgbClr val="221F20"/>
              </a:solidFill>
              <a:cs typeface="Arial"/>
            </a:endParaRPr>
          </a:p>
          <a:p>
            <a:pPr marL="0" indent="0">
              <a:spcBef>
                <a:spcPts val="1200"/>
              </a:spcBef>
              <a:buFont typeface="Arial" panose="020B0604020202020204" pitchFamily="34" charset="0"/>
              <a:buNone/>
            </a:pPr>
            <a:endParaRPr lang="en-US" sz="2000" dirty="0">
              <a:solidFill>
                <a:srgbClr val="221F20"/>
              </a:solidFill>
            </a:endParaRPr>
          </a:p>
          <a:p>
            <a:pPr marL="0" indent="0">
              <a:spcBef>
                <a:spcPts val="1200"/>
              </a:spcBef>
              <a:buClr>
                <a:schemeClr val="dk1"/>
              </a:buClr>
              <a:buSzPts val="1100"/>
              <a:buFont typeface="Arial"/>
              <a:buNone/>
            </a:pPr>
            <a:r>
              <a:rPr lang="en-US" sz="2000" b="1" dirty="0">
                <a:solidFill>
                  <a:srgbClr val="221F20"/>
                </a:solidFill>
              </a:rPr>
              <a:t>Common Resources:</a:t>
            </a:r>
            <a:endParaRPr lang="en-US" sz="2000" b="1" dirty="0">
              <a:solidFill>
                <a:srgbClr val="221F20"/>
              </a:solidFill>
              <a:cs typeface="Arial"/>
            </a:endParaRPr>
          </a:p>
          <a:p>
            <a:pPr marL="457200" indent="-304800">
              <a:buClr>
                <a:schemeClr val="bg2"/>
              </a:buClr>
              <a:buSzPts val="1200"/>
              <a:buFont typeface="Arial" panose="020B0604020202020204" pitchFamily="34" charset="0"/>
              <a:buChar char="●"/>
            </a:pPr>
            <a:r>
              <a:rPr lang="en-US" sz="2000" b="1" dirty="0">
                <a:solidFill>
                  <a:srgbClr val="221F20"/>
                </a:solidFill>
                <a:ea typeface="+mn-lt"/>
                <a:cs typeface="+mn-lt"/>
              </a:rPr>
              <a:t>Routing / Switching</a:t>
            </a:r>
            <a:r>
              <a:rPr lang="en-US" sz="2000" dirty="0">
                <a:solidFill>
                  <a:srgbClr val="221F20"/>
                </a:solidFill>
                <a:ea typeface="+mn-lt"/>
                <a:cs typeface="+mn-lt"/>
              </a:rPr>
              <a:t>: The means by which data flows between individual compute and storage nodes in or between networks.  Routing / switching is generally accomplished via internet protocol (IP), which assigns unique numerical identifiers to devices for communicate over a network, although different protocols exist for specific networking purposes.</a:t>
            </a:r>
            <a:endParaRPr lang="en-US" sz="2000" dirty="0">
              <a:solidFill>
                <a:srgbClr val="221F20"/>
              </a:solidFill>
              <a:cs typeface="Arial"/>
            </a:endParaRPr>
          </a:p>
          <a:p>
            <a:pPr marL="457200" indent="-304800">
              <a:buClr>
                <a:schemeClr val="bg2"/>
              </a:buClr>
              <a:buSzPts val="1200"/>
              <a:buFont typeface="Arial" panose="020B0604020202020204" pitchFamily="34" charset="0"/>
              <a:buChar char="●"/>
            </a:pPr>
            <a:endParaRPr lang="en-US" sz="2000" dirty="0">
              <a:solidFill>
                <a:srgbClr val="221F20"/>
              </a:solidFill>
              <a:cs typeface="Arial"/>
            </a:endParaRPr>
          </a:p>
          <a:p>
            <a:pPr marL="457200" indent="-304800">
              <a:buClr>
                <a:schemeClr val="bg2"/>
              </a:buClr>
              <a:buSzPts val="1200"/>
              <a:buFont typeface="Arial" panose="020B0604020202020204" pitchFamily="34" charset="0"/>
              <a:buChar char="●"/>
            </a:pPr>
            <a:r>
              <a:rPr lang="en-US" sz="2000" b="1" dirty="0">
                <a:solidFill>
                  <a:srgbClr val="221F20"/>
                </a:solidFill>
                <a:cs typeface="Arial"/>
              </a:rPr>
              <a:t>Security and Access Control</a:t>
            </a:r>
            <a:r>
              <a:rPr lang="en-US" sz="2000" dirty="0">
                <a:solidFill>
                  <a:srgbClr val="221F20"/>
                </a:solidFill>
                <a:cs typeface="Arial"/>
              </a:rPr>
              <a:t>: Resources that limit or grant access to specific resources.  This can generally be accomplished using either network-oriented means (example: access control lists (ACLs)) or role-based means (example: Microsoft Active Domain / Entra). </a:t>
            </a:r>
          </a:p>
          <a:p>
            <a:pPr marL="0" indent="0">
              <a:spcBef>
                <a:spcPts val="1200"/>
              </a:spcBef>
              <a:spcAft>
                <a:spcPts val="1200"/>
              </a:spcAft>
              <a:buNone/>
            </a:pPr>
            <a:endParaRPr lang="en-US" sz="1400" dirty="0">
              <a:solidFill>
                <a:srgbClr val="221F20"/>
              </a:solidFill>
              <a:highlight>
                <a:srgbClr val="FFFFFF"/>
              </a:highlight>
              <a:cs typeface="Arial"/>
            </a:endParaRPr>
          </a:p>
        </p:txBody>
      </p:sp>
    </p:spTree>
    <p:extLst>
      <p:ext uri="{BB962C8B-B14F-4D97-AF65-F5344CB8AC3E}">
        <p14:creationId xmlns:p14="http://schemas.microsoft.com/office/powerpoint/2010/main" val="1608765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3C8BE-7556-2F76-A6C9-13ED9EFF2CE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91836C89-11B7-7413-E1EC-B31554BC4210}"/>
              </a:ext>
            </a:extLst>
          </p:cNvPr>
          <p:cNvSpPr txBox="1">
            <a:spLocks/>
          </p:cNvSpPr>
          <p:nvPr/>
        </p:nvSpPr>
        <p:spPr>
          <a:xfrm>
            <a:off x="-633761"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rgbClr val="221F20"/>
                </a:solidFill>
                <a:latin typeface="US Army" panose="020B0506030202020204"/>
              </a:rPr>
              <a:t>Networking: The Connectivity Fabric</a:t>
            </a:r>
          </a:p>
        </p:txBody>
      </p:sp>
      <p:pic>
        <p:nvPicPr>
          <p:cNvPr id="2050" name="Picture 2">
            <a:extLst>
              <a:ext uri="{FF2B5EF4-FFF2-40B4-BE49-F238E27FC236}">
                <a16:creationId xmlns:a16="http://schemas.microsoft.com/office/drawing/2014/main" id="{13182FED-3C0A-7493-4F4A-F09E2EFCD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12888"/>
            <a:ext cx="12192000" cy="3830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3506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AE54F-93CC-9F6E-2487-5BD60830C143}"/>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4F0B523-EAFD-F036-D5F2-9BC1F121ED40}"/>
              </a:ext>
            </a:extLst>
          </p:cNvPr>
          <p:cNvSpPr txBox="1">
            <a:spLocks/>
          </p:cNvSpPr>
          <p:nvPr/>
        </p:nvSpPr>
        <p:spPr>
          <a:xfrm>
            <a:off x="-1124414"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rgbClr val="221F20"/>
                </a:solidFill>
                <a:latin typeface="US Army" panose="020B0506030202020204"/>
              </a:rPr>
              <a:t>The Shared Responsibility Model</a:t>
            </a:r>
          </a:p>
        </p:txBody>
      </p:sp>
      <p:sp>
        <p:nvSpPr>
          <p:cNvPr id="2" name="Google Shape;549;p70">
            <a:extLst>
              <a:ext uri="{FF2B5EF4-FFF2-40B4-BE49-F238E27FC236}">
                <a16:creationId xmlns:a16="http://schemas.microsoft.com/office/drawing/2014/main" id="{6899F2A4-C98F-3664-81DF-C9B8D63D6937}"/>
              </a:ext>
            </a:extLst>
          </p:cNvPr>
          <p:cNvSpPr txBox="1">
            <a:spLocks/>
          </p:cNvSpPr>
          <p:nvPr/>
        </p:nvSpPr>
        <p:spPr>
          <a:xfrm>
            <a:off x="621667" y="1438871"/>
            <a:ext cx="10935751" cy="4397959"/>
          </a:xfrm>
          <a:prstGeom prst="rect">
            <a:avLst/>
          </a:prstGeom>
        </p:spPr>
        <p:txBody>
          <a:bodyPr spcFirstLastPara="1" wrap="square" lIns="91425" tIns="91425" rIns="91425" bIns="91425"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2000" b="1" dirty="0">
                <a:solidFill>
                  <a:srgbClr val="221F20"/>
                </a:solidFill>
              </a:rPr>
              <a:t>The Shared Responsibility Model partitions specific requirements and privileges for cloud resource access and maintenance between a cloud service provider and customer.  </a:t>
            </a:r>
            <a:endParaRPr lang="en-US" sz="2000" b="1" dirty="0">
              <a:solidFill>
                <a:srgbClr val="221F20"/>
              </a:solidFill>
              <a:cs typeface="Arial"/>
            </a:endParaRPr>
          </a:p>
          <a:p>
            <a:pPr marL="0" indent="0">
              <a:spcBef>
                <a:spcPts val="0"/>
              </a:spcBef>
              <a:buNone/>
            </a:pPr>
            <a:endParaRPr lang="en-US" sz="2000" b="1" dirty="0">
              <a:solidFill>
                <a:srgbClr val="221F20"/>
              </a:solidFill>
            </a:endParaRPr>
          </a:p>
          <a:p>
            <a:pPr marL="457200" indent="-304800">
              <a:spcBef>
                <a:spcPts val="1200"/>
              </a:spcBef>
              <a:buClr>
                <a:schemeClr val="bg2"/>
              </a:buClr>
              <a:buSzPts val="1200"/>
              <a:buFont typeface="Arial" panose="020B0604020202020204" pitchFamily="34" charset="0"/>
              <a:buChar char="●"/>
            </a:pPr>
            <a:r>
              <a:rPr lang="en-US" sz="2000" b="1" dirty="0">
                <a:solidFill>
                  <a:srgbClr val="221F20"/>
                </a:solidFill>
              </a:rPr>
              <a:t>Cloud Provider's Responsibility:</a:t>
            </a:r>
            <a:r>
              <a:rPr lang="en-US" sz="2000" dirty="0">
                <a:solidFill>
                  <a:srgbClr val="221F20"/>
                </a:solidFill>
              </a:rPr>
              <a:t> Starts with security </a:t>
            </a:r>
            <a:r>
              <a:rPr lang="en-US" sz="2000" b="1" dirty="0">
                <a:solidFill>
                  <a:srgbClr val="221F20"/>
                </a:solidFill>
              </a:rPr>
              <a:t>of</a:t>
            </a:r>
            <a:r>
              <a:rPr lang="en-US" sz="2000" dirty="0">
                <a:solidFill>
                  <a:srgbClr val="221F20"/>
                </a:solidFill>
              </a:rPr>
              <a:t> the cloud (the physical data centers, the hardware, and the underlying services) and progresses up from there.</a:t>
            </a:r>
            <a:endParaRPr lang="en-US" sz="2000" dirty="0">
              <a:solidFill>
                <a:srgbClr val="221F20"/>
              </a:solidFill>
              <a:cs typeface="Arial"/>
            </a:endParaRPr>
          </a:p>
          <a:p>
            <a:pPr marL="0" indent="0">
              <a:spcBef>
                <a:spcPts val="1200"/>
              </a:spcBef>
              <a:buFont typeface="Arial" panose="020B0604020202020204" pitchFamily="34" charset="0"/>
              <a:buNone/>
            </a:pPr>
            <a:endParaRPr lang="en-US" sz="2000" dirty="0">
              <a:solidFill>
                <a:srgbClr val="221F20"/>
              </a:solidFill>
              <a:cs typeface="Arial"/>
            </a:endParaRPr>
          </a:p>
          <a:p>
            <a:pPr marL="457200" indent="-304800">
              <a:spcBef>
                <a:spcPts val="1200"/>
              </a:spcBef>
              <a:buClr>
                <a:schemeClr val="bg2"/>
              </a:buClr>
              <a:buSzPts val="1200"/>
              <a:buFont typeface="Arial" panose="020B0604020202020204" pitchFamily="34" charset="0"/>
              <a:buChar char="●"/>
            </a:pPr>
            <a:r>
              <a:rPr lang="en-US" sz="2000" b="1" dirty="0">
                <a:solidFill>
                  <a:srgbClr val="221F20"/>
                </a:solidFill>
              </a:rPr>
              <a:t>Customer Responsibility:</a:t>
            </a:r>
            <a:r>
              <a:rPr lang="en-US" sz="2000" dirty="0">
                <a:solidFill>
                  <a:srgbClr val="221F20"/>
                </a:solidFill>
              </a:rPr>
              <a:t> Starts with securing customer-specific resources (securing data, managing user access, and configuring resources correctly) and progresses down from there.</a:t>
            </a:r>
            <a:endParaRPr lang="en-US" sz="2000" b="1" dirty="0">
              <a:solidFill>
                <a:srgbClr val="221F20"/>
              </a:solidFill>
              <a:cs typeface="Arial"/>
            </a:endParaRPr>
          </a:p>
        </p:txBody>
      </p:sp>
    </p:spTree>
    <p:extLst>
      <p:ext uri="{BB962C8B-B14F-4D97-AF65-F5344CB8AC3E}">
        <p14:creationId xmlns:p14="http://schemas.microsoft.com/office/powerpoint/2010/main" val="479143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D6A50-D575-104A-349B-F13A7787714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294F1C0A-506A-8376-1457-54D8C43D5348}"/>
              </a:ext>
            </a:extLst>
          </p:cNvPr>
          <p:cNvSpPr txBox="1">
            <a:spLocks/>
          </p:cNvSpPr>
          <p:nvPr/>
        </p:nvSpPr>
        <p:spPr>
          <a:xfrm>
            <a:off x="-689841"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rgbClr val="221F20"/>
                </a:solidFill>
                <a:latin typeface="US Army" panose="020B0506030202020204"/>
              </a:rPr>
              <a:t>Visual Shared Responsibility Model</a:t>
            </a:r>
          </a:p>
        </p:txBody>
      </p:sp>
      <p:pic>
        <p:nvPicPr>
          <p:cNvPr id="2" name="Google Shape;555;p71">
            <a:extLst>
              <a:ext uri="{FF2B5EF4-FFF2-40B4-BE49-F238E27FC236}">
                <a16:creationId xmlns:a16="http://schemas.microsoft.com/office/drawing/2014/main" id="{E147377F-58BA-DF7E-21E6-5ED8F3D9B1A7}"/>
              </a:ext>
            </a:extLst>
          </p:cNvPr>
          <p:cNvPicPr preferRelativeResize="0"/>
          <p:nvPr/>
        </p:nvPicPr>
        <p:blipFill>
          <a:blip r:embed="rId3">
            <a:alphaModFix/>
          </a:blip>
          <a:stretch>
            <a:fillRect/>
          </a:stretch>
        </p:blipFill>
        <p:spPr>
          <a:xfrm>
            <a:off x="1010140" y="1325563"/>
            <a:ext cx="10171720" cy="5161036"/>
          </a:xfrm>
          <a:prstGeom prst="rect">
            <a:avLst/>
          </a:prstGeom>
          <a:noFill/>
          <a:ln>
            <a:noFill/>
          </a:ln>
        </p:spPr>
      </p:pic>
    </p:spTree>
    <p:extLst>
      <p:ext uri="{BB962C8B-B14F-4D97-AF65-F5344CB8AC3E}">
        <p14:creationId xmlns:p14="http://schemas.microsoft.com/office/powerpoint/2010/main" val="1352175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C83B4-5DC8-8786-0738-61F03905C52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C8A6C83-6786-D762-6759-D4E994ACFB6D}"/>
              </a:ext>
            </a:extLst>
          </p:cNvPr>
          <p:cNvSpPr txBox="1">
            <a:spLocks/>
          </p:cNvSpPr>
          <p:nvPr/>
        </p:nvSpPr>
        <p:spPr>
          <a:xfrm>
            <a:off x="-700668" y="0"/>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r>
              <a:rPr lang="en-US" dirty="0">
                <a:solidFill>
                  <a:srgbClr val="221F20"/>
                </a:solidFill>
                <a:latin typeface="US Army" panose="020B0506030202020204"/>
              </a:rPr>
              <a:t>Real-World Example: Let’s Build it!</a:t>
            </a:r>
          </a:p>
        </p:txBody>
      </p:sp>
      <p:sp>
        <p:nvSpPr>
          <p:cNvPr id="2" name="Google Shape;561;p72">
            <a:extLst>
              <a:ext uri="{FF2B5EF4-FFF2-40B4-BE49-F238E27FC236}">
                <a16:creationId xmlns:a16="http://schemas.microsoft.com/office/drawing/2014/main" id="{61899271-9D49-DA75-4FBA-EB0A13244D0A}"/>
              </a:ext>
            </a:extLst>
          </p:cNvPr>
          <p:cNvSpPr txBox="1">
            <a:spLocks/>
          </p:cNvSpPr>
          <p:nvPr/>
        </p:nvSpPr>
        <p:spPr>
          <a:xfrm>
            <a:off x="621667" y="1134071"/>
            <a:ext cx="11090734" cy="5224535"/>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1100"/>
              <a:buFont typeface="Arial"/>
              <a:buNone/>
            </a:pPr>
            <a:endParaRPr lang="en-US" sz="2000" dirty="0">
              <a:solidFill>
                <a:srgbClr val="221F20"/>
              </a:solidFill>
              <a:cs typeface="Arial"/>
            </a:endParaRPr>
          </a:p>
          <a:p>
            <a:pPr marL="0" indent="0">
              <a:spcBef>
                <a:spcPts val="1200"/>
              </a:spcBef>
              <a:buSzPts val="1100"/>
              <a:buNone/>
            </a:pPr>
            <a:r>
              <a:rPr lang="en-US" sz="2000" b="1" dirty="0">
                <a:solidFill>
                  <a:srgbClr val="221F20"/>
                </a:solidFill>
                <a:cs typeface="Arial"/>
              </a:rPr>
              <a:t>The Components:</a:t>
            </a:r>
          </a:p>
          <a:p>
            <a:pPr marL="0" indent="0">
              <a:spcBef>
                <a:spcPts val="1200"/>
              </a:spcBef>
              <a:buSzPts val="1100"/>
              <a:buNone/>
            </a:pPr>
            <a:endParaRPr lang="en-US" sz="2000" b="1" dirty="0">
              <a:solidFill>
                <a:srgbClr val="221F20"/>
              </a:solidFill>
              <a:cs typeface="Arial"/>
            </a:endParaRPr>
          </a:p>
          <a:p>
            <a:pPr marL="457200" indent="-311150">
              <a:spcBef>
                <a:spcPts val="1200"/>
              </a:spcBef>
              <a:buClr>
                <a:srgbClr val="FFCC01"/>
              </a:buClr>
              <a:buSzPts val="1300"/>
              <a:buFont typeface="Arial" panose="020B0604020202020204" pitchFamily="34" charset="0"/>
              <a:buChar char="●"/>
            </a:pPr>
            <a:r>
              <a:rPr lang="en-US" sz="2000" b="1" dirty="0">
                <a:solidFill>
                  <a:srgbClr val="221F20"/>
                </a:solidFill>
                <a:cs typeface="Arial"/>
              </a:rPr>
              <a:t>Compute:</a:t>
            </a:r>
            <a:r>
              <a:rPr lang="en-US" sz="2000" dirty="0">
                <a:solidFill>
                  <a:srgbClr val="221F20"/>
                </a:solidFill>
                <a:cs typeface="Arial"/>
              </a:rPr>
              <a:t> Virtual Machine.</a:t>
            </a:r>
          </a:p>
          <a:p>
            <a:pPr marL="457200" indent="0">
              <a:spcBef>
                <a:spcPts val="1200"/>
              </a:spcBef>
              <a:buNone/>
            </a:pPr>
            <a:endParaRPr lang="en-US" sz="2000" dirty="0">
              <a:solidFill>
                <a:srgbClr val="221F20"/>
              </a:solidFill>
              <a:cs typeface="Arial"/>
            </a:endParaRPr>
          </a:p>
          <a:p>
            <a:pPr marL="457200" indent="-311150">
              <a:spcBef>
                <a:spcPts val="1200"/>
              </a:spcBef>
              <a:buClr>
                <a:srgbClr val="FFCC01"/>
              </a:buClr>
              <a:buSzPts val="1300"/>
              <a:buFont typeface="Arial" panose="020B0604020202020204" pitchFamily="34" charset="0"/>
              <a:buChar char="●"/>
            </a:pPr>
            <a:r>
              <a:rPr lang="en-US" sz="2000" b="1" dirty="0">
                <a:solidFill>
                  <a:srgbClr val="221F20"/>
                </a:solidFill>
                <a:cs typeface="Arial"/>
              </a:rPr>
              <a:t>Storage:</a:t>
            </a:r>
            <a:r>
              <a:rPr lang="en-US" sz="2000" dirty="0">
                <a:solidFill>
                  <a:srgbClr val="221F20"/>
                </a:solidFill>
                <a:cs typeface="Arial"/>
              </a:rPr>
              <a:t> Azure Files refers to the overall service that provides fully managed file shares in the cloud. Think of as "file share drives" or network drives that you can mount and access from your cloud or on-premises deployments.</a:t>
            </a:r>
          </a:p>
          <a:p>
            <a:pPr marL="457200" indent="0">
              <a:spcBef>
                <a:spcPts val="1200"/>
              </a:spcBef>
              <a:buNone/>
            </a:pPr>
            <a:endParaRPr lang="en-US" sz="2000" dirty="0">
              <a:solidFill>
                <a:srgbClr val="221F20"/>
              </a:solidFill>
              <a:cs typeface="Arial"/>
            </a:endParaRPr>
          </a:p>
          <a:p>
            <a:pPr marL="457200" indent="-311150">
              <a:spcBef>
                <a:spcPts val="1200"/>
              </a:spcBef>
              <a:buClr>
                <a:srgbClr val="FFCC01"/>
              </a:buClr>
              <a:buSzPts val="1300"/>
              <a:buFont typeface="Arial" panose="020B0604020202020204" pitchFamily="34" charset="0"/>
              <a:buChar char="●"/>
            </a:pPr>
            <a:r>
              <a:rPr lang="en-US" sz="2000" b="1" dirty="0">
                <a:solidFill>
                  <a:srgbClr val="221F20"/>
                </a:solidFill>
                <a:cs typeface="Arial"/>
              </a:rPr>
              <a:t>Networking:</a:t>
            </a:r>
            <a:r>
              <a:rPr lang="en-US" sz="2000" dirty="0">
                <a:solidFill>
                  <a:srgbClr val="221F20"/>
                </a:solidFill>
                <a:cs typeface="Arial"/>
              </a:rPr>
              <a:t> A virtual private cloud (VPC) to create a secure, private network.</a:t>
            </a:r>
          </a:p>
          <a:p>
            <a:pPr marL="0" indent="0">
              <a:spcBef>
                <a:spcPts val="1200"/>
              </a:spcBef>
              <a:spcAft>
                <a:spcPts val="1200"/>
              </a:spcAft>
              <a:buFont typeface="Arial" panose="020B0604020202020204" pitchFamily="34" charset="0"/>
              <a:buNone/>
            </a:pPr>
            <a:endParaRPr lang="en-US" sz="1400" dirty="0">
              <a:solidFill>
                <a:srgbClr val="221F20"/>
              </a:solidFill>
            </a:endParaRPr>
          </a:p>
        </p:txBody>
      </p:sp>
      <p:sp>
        <p:nvSpPr>
          <p:cNvPr id="3" name="TextBox 2">
            <a:extLst>
              <a:ext uri="{FF2B5EF4-FFF2-40B4-BE49-F238E27FC236}">
                <a16:creationId xmlns:a16="http://schemas.microsoft.com/office/drawing/2014/main" id="{91573D0C-7326-DA4A-8532-0EBCF2C30257}"/>
              </a:ext>
            </a:extLst>
          </p:cNvPr>
          <p:cNvSpPr txBox="1"/>
          <p:nvPr/>
        </p:nvSpPr>
        <p:spPr>
          <a:xfrm>
            <a:off x="4069080" y="-1943100"/>
            <a:ext cx="0" cy="0"/>
          </a:xfrm>
          <a:prstGeom prst="rect">
            <a:avLst/>
          </a:prstGeom>
          <a:noFill/>
        </p:spPr>
        <p:txBody>
          <a:bodyPr wrap="none" lIns="0" tIns="0" rIns="0" bIns="0" rtlCol="0">
            <a:noAutofit/>
          </a:bodyPr>
          <a:lstStyle/>
          <a:p>
            <a:pPr marL="182880" indent="-182880">
              <a:lnSpc>
                <a:spcPct val="95000"/>
              </a:lnSpc>
              <a:spcBef>
                <a:spcPts val="1000"/>
              </a:spcBef>
              <a:buClr>
                <a:schemeClr val="bg2"/>
              </a:buClr>
              <a:buSzPct val="100000"/>
              <a:buFont typeface="Arial"/>
              <a:buChar char="▪"/>
            </a:pPr>
            <a:endParaRPr lang="en-US" sz="1700" dirty="0"/>
          </a:p>
        </p:txBody>
      </p:sp>
    </p:spTree>
    <p:extLst>
      <p:ext uri="{BB962C8B-B14F-4D97-AF65-F5344CB8AC3E}">
        <p14:creationId xmlns:p14="http://schemas.microsoft.com/office/powerpoint/2010/main" val="538864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732F3-FD14-D412-771A-15DFD321A639}"/>
            </a:ext>
          </a:extLst>
        </p:cNvPr>
        <p:cNvGrpSpPr/>
        <p:nvPr/>
      </p:nvGrpSpPr>
      <p:grpSpPr>
        <a:xfrm>
          <a:off x="0" y="0"/>
          <a:ext cx="0" cy="0"/>
          <a:chOff x="0" y="0"/>
          <a:chExt cx="0" cy="0"/>
        </a:xfrm>
      </p:grpSpPr>
      <p:sp>
        <p:nvSpPr>
          <p:cNvPr id="2" name="Lorem ipsum sit lom dolor sit amet, Lorem ipsum sit lom dolor sit amet, consectetur sit amet adipiscing. Lorem ipsum sit.">
            <a:extLst>
              <a:ext uri="{FF2B5EF4-FFF2-40B4-BE49-F238E27FC236}">
                <a16:creationId xmlns:a16="http://schemas.microsoft.com/office/drawing/2014/main" id="{2AF4BB5F-0FC9-6AB0-8FBA-02ACCB44FDD5}"/>
              </a:ext>
            </a:extLst>
          </p:cNvPr>
          <p:cNvSpPr txBox="1"/>
          <p:nvPr/>
        </p:nvSpPr>
        <p:spPr>
          <a:xfrm>
            <a:off x="3647552" y="5021345"/>
            <a:ext cx="4893548"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t">
            <a:spAutoFit/>
          </a:bodyPr>
          <a:lstStyle/>
          <a:p>
            <a:pPr algn="ctr">
              <a:defRPr/>
            </a:pPr>
            <a:r>
              <a:rPr lang="en-US" b="1">
                <a:solidFill>
                  <a:srgbClr val="FFD52F"/>
                </a:solidFill>
                <a:latin typeface="US Army" panose="020B0506030202020204"/>
              </a:rPr>
              <a:t>Artificial Intelligence</a:t>
            </a:r>
            <a:endParaRPr lang="en-US">
              <a:solidFill>
                <a:srgbClr val="000000"/>
              </a:solidFill>
              <a:latin typeface="US Army" panose="020B0506030202020204"/>
              <a:ea typeface="Calibri" panose="020F0502020204030204"/>
              <a:cs typeface="Calibri" panose="020F0502020204030204"/>
            </a:endParaRPr>
          </a:p>
          <a:p>
            <a:pPr algn="ctr">
              <a:defRPr/>
            </a:pPr>
            <a:r>
              <a:rPr lang="en-US" b="1">
                <a:solidFill>
                  <a:srgbClr val="FFD52F"/>
                </a:solidFill>
                <a:latin typeface="US Army" panose="020B0506030202020204"/>
              </a:rPr>
              <a:t>Integration Center</a:t>
            </a:r>
          </a:p>
        </p:txBody>
      </p:sp>
      <p:sp>
        <p:nvSpPr>
          <p:cNvPr id="4" name="Title 3">
            <a:extLst>
              <a:ext uri="{FF2B5EF4-FFF2-40B4-BE49-F238E27FC236}">
                <a16:creationId xmlns:a16="http://schemas.microsoft.com/office/drawing/2014/main" id="{E3D8194E-8F21-0B87-6D84-0E216CF978AD}"/>
              </a:ext>
            </a:extLst>
          </p:cNvPr>
          <p:cNvSpPr>
            <a:spLocks noGrp="1"/>
          </p:cNvSpPr>
          <p:nvPr>
            <p:ph type="title"/>
          </p:nvPr>
        </p:nvSpPr>
        <p:spPr>
          <a:xfrm>
            <a:off x="2435538" y="3680024"/>
            <a:ext cx="7320923" cy="1074430"/>
          </a:xfrm>
        </p:spPr>
        <p:txBody>
          <a:bodyPr anchor="ctr">
            <a:normAutofit/>
          </a:bodyPr>
          <a:lstStyle/>
          <a:p>
            <a:r>
              <a:rPr lang="en-US" dirty="0"/>
              <a:t>Questions?</a:t>
            </a:r>
          </a:p>
        </p:txBody>
      </p:sp>
    </p:spTree>
    <p:extLst>
      <p:ext uri="{BB962C8B-B14F-4D97-AF65-F5344CB8AC3E}">
        <p14:creationId xmlns:p14="http://schemas.microsoft.com/office/powerpoint/2010/main" val="1534285922"/>
      </p:ext>
    </p:extLst>
  </p:cSld>
  <p:clrMapOvr>
    <a:masterClrMapping/>
  </p:clrMapOvr>
</p:sld>
</file>

<file path=ppt/theme/theme1.xml><?xml version="1.0" encoding="utf-8"?>
<a:theme xmlns:a="http://schemas.openxmlformats.org/drawingml/2006/main" name="1_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haredWithUsers xmlns="f9fa3ad2-c39b-4954-a22f-40ec4b5ca1b3">
      <UserInfo>
        <DisplayName>Ingros, Jarek L CPT USARMY AFC AI2C (USA)</DisplayName>
        <AccountId>176</AccountId>
        <AccountType/>
      </UserInfo>
    </SharedWithUsers>
    <TaxCatchAll xmlns="f9fa3ad2-c39b-4954-a22f-40ec4b5ca1b3" xsi:nil="true"/>
    <lcf76f155ced4ddcb4097134ff3c332f xmlns="ef9d8c99-a6c2-4b65-8451-32ff9efcb59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B6E4716DCAC0248B42BB1E686CBAD0E" ma:contentTypeVersion="17" ma:contentTypeDescription="Create a new document." ma:contentTypeScope="" ma:versionID="6db49d0184db89f1b0953fff9f3680f9">
  <xsd:schema xmlns:xsd="http://www.w3.org/2001/XMLSchema" xmlns:xs="http://www.w3.org/2001/XMLSchema" xmlns:p="http://schemas.microsoft.com/office/2006/metadata/properties" xmlns:ns1="http://schemas.microsoft.com/sharepoint/v3" xmlns:ns2="ef9d8c99-a6c2-4b65-8451-32ff9efcb598" xmlns:ns3="f9fa3ad2-c39b-4954-a22f-40ec4b5ca1b3" targetNamespace="http://schemas.microsoft.com/office/2006/metadata/properties" ma:root="true" ma:fieldsID="c56e67a408995efa2d2879d54a1105e5" ns1:_="" ns2:_="" ns3:_="">
    <xsd:import namespace="http://schemas.microsoft.com/sharepoint/v3"/>
    <xsd:import namespace="ef9d8c99-a6c2-4b65-8451-32ff9efcb598"/>
    <xsd:import namespace="f9fa3ad2-c39b-4954-a22f-40ec4b5ca1b3"/>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f9d8c99-a6c2-4b65-8451-32ff9efcb5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c874fec-6985-468d-9a86-0194f6fd86d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9fa3ad2-c39b-4954-a22f-40ec4b5ca1b3"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c5d67ede-b7b7-4cda-a75c-da81bfd9e55d}" ma:internalName="TaxCatchAll" ma:showField="CatchAllData" ma:web="f9fa3ad2-c39b-4954-a22f-40ec4b5ca1b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A212881-A5A9-4A59-9981-1F8E3A2B1DD3}">
  <ds:schemaRefs>
    <ds:schemaRef ds:uri="http://schemas.microsoft.com/sharepoint/v3/contenttype/forms"/>
  </ds:schemaRefs>
</ds:datastoreItem>
</file>

<file path=customXml/itemProps2.xml><?xml version="1.0" encoding="utf-8"?>
<ds:datastoreItem xmlns:ds="http://schemas.openxmlformats.org/officeDocument/2006/customXml" ds:itemID="{8D91F63C-04D8-476A-9BFF-D0385B170285}">
  <ds:schemaRefs>
    <ds:schemaRef ds:uri="ef9d8c99-a6c2-4b65-8451-32ff9efcb598"/>
    <ds:schemaRef ds:uri="f9fa3ad2-c39b-4954-a22f-40ec4b5ca1b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EE48D29-6726-467E-A710-21B494BF4543}">
  <ds:schemaRefs>
    <ds:schemaRef ds:uri="ef9d8c99-a6c2-4b65-8451-32ff9efcb598"/>
    <ds:schemaRef ds:uri="f9fa3ad2-c39b-4954-a22f-40ec4b5ca1b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554eecc5-e26c-4620-b240-5a8bb326c33d}" enabled="1" method="Standard" siteId="{fae6d70f-954b-4811-92b6-0530d6f84c43}" removed="0"/>
</clbl:labelList>
</file>

<file path=docProps/app.xml><?xml version="1.0" encoding="utf-8"?>
<Properties xmlns="http://schemas.openxmlformats.org/officeDocument/2006/extended-properties" xmlns:vt="http://schemas.openxmlformats.org/officeDocument/2006/docPropsVTypes">
  <TotalTime>35</TotalTime>
  <Words>812</Words>
  <Application>Microsoft Office PowerPoint</Application>
  <PresentationFormat>Widescreen</PresentationFormat>
  <Paragraphs>84</Paragraphs>
  <Slides>14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Arial Bold</vt:lpstr>
      <vt:lpstr>Calibri</vt:lpstr>
      <vt:lpstr>Play</vt:lpstr>
      <vt:lpstr>US Army</vt:lpstr>
      <vt:lpstr>1_US Army 2023 AFC DEVCOM Logo</vt:lpstr>
      <vt:lpstr>CLOUD RESOURCES: THE BASICS</vt:lpstr>
      <vt:lpstr>What is a “Cloud Resource”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Scholars!</dc:title>
  <dc:creator>Harrison</dc:creator>
  <cp:lastModifiedBy>Ethan Shafer</cp:lastModifiedBy>
  <cp:revision>234</cp:revision>
  <dcterms:created xsi:type="dcterms:W3CDTF">2023-03-23T18:54:47Z</dcterms:created>
  <dcterms:modified xsi:type="dcterms:W3CDTF">2026-06-08T20:27:41Z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0x010100AB6E4716DCAC0248B42BB1E686CBAD0E</vt:lpwstr>
  </property>
  <property fmtid="{D5CDD505-2E9C-101B-9397-08002B2CF9AE}" pid="3" name="MediaServiceImageTags">
    <vt:lpwstr/>
  </property>
  <property fmtid="{D5CDD505-2E9C-101B-9397-08002B2CF9AE}" pid="4" name="Order">
    <vt:r8>122000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