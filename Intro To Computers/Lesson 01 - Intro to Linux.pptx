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</p:sldMasterIdLst>
  <p:notesMasterIdLst>
    <p:notesMasterId r:id="rId26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06" r:id="rId24"/>
    <p:sldId id="305" r:id="rId25"/>
  </p:sldIdLst>
  <p:sldSz cx="12192000" cy="6858000"/>
  <p:notesSz cx="6858000" cy="9144000"/>
  <p:embeddedFontLst>
    <p:embeddedFont>
      <p:font typeface="Arial Bold" panose="020B0704020202020204" pitchFamily="34" charset="0"/>
      <p:bold r:id="rId27"/>
    </p:embeddedFont>
    <p:embeddedFont>
      <p:font typeface="Play" panose="020B0604020202020204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229193-9201-416B-B51A-756F7200C228}">
  <a:tblStyle styleId="{E2229193-9201-416B-B51A-756F7200C2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3026" autoAdjust="0"/>
  </p:normalViewPr>
  <p:slideViewPr>
    <p:cSldViewPr snapToGrid="0">
      <p:cViewPr varScale="1">
        <p:scale>
          <a:sx n="108" d="100"/>
          <a:sy n="108" d="100"/>
        </p:scale>
        <p:origin x="10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</a:t>
            </a:r>
            <a:r>
              <a:rPr lang="en-US"/>
              <a:t>https://www.markdownguide.org/getting-started/</a:t>
            </a: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067912e4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7067912e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067912e40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7067912e4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 dirty="0"/>
              <a:t>1 </a:t>
            </a:r>
            <a:r>
              <a:rPr lang="en-US" dirty="0"/>
              <a:t>https://git.kernel.org/pub/scm/linux/kernel/git/torvalds/linux.git/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 dirty="0"/>
              <a:t>2 </a:t>
            </a:r>
            <a:r>
              <a:rPr lang="en-US" dirty="0"/>
              <a:t>https://en.wikipedia.org/wiki/Linux_distribution#Widely_used_GNU-based_or_GNU-compatible_distributions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 dirty="0"/>
              <a:t>3 </a:t>
            </a:r>
            <a:r>
              <a:rPr lang="en-US" dirty="0"/>
              <a:t>https://github.com/corollari/linusrants</a:t>
            </a:r>
            <a:endParaRPr dirty="0"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in-depth on the output of the –la 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Ls – 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-la – arguments / flags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Total 32 – number of blocks used by this tree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column - dir/file, owner, group, others permissions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column – number of hardlinks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Third column – owner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Fourth column – group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Fifth column – space taken by file (metadata for directories)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Sixth(ish) columns – last modified 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 column – file/directory name</a:t>
            </a:r>
            <a:endParaRPr/>
          </a:p>
        </p:txBody>
      </p:sp>
      <p:sp>
        <p:nvSpPr>
          <p:cNvPr id="156" name="Google Shape;1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 These commands are destructive in that there is no going back. If you delete a file it is gone. If you overwrite a file, that file is gone.</a:t>
            </a:r>
            <a:endParaRPr/>
          </a:p>
        </p:txBody>
      </p:sp>
      <p:sp>
        <p:nvSpPr>
          <p:cNvPr id="183" name="Google Shape;18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13446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007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924244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37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27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7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8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74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56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23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89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36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10393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5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00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25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0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81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4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27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25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9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94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53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9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21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92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54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5953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57128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20644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429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4294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598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  <p:sldLayoutId id="2147483723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Regular_expressions/Cheatshee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igitalfortress.tech/tips/top-15-commonly-used-regex/" TargetMode="External"/><Relationship Id="rId4" Type="http://schemas.openxmlformats.org/officeDocument/2006/relationships/hyperlink" Target="https://regex101.co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</p:spPr>
        <p:txBody>
          <a:bodyPr/>
          <a:lstStyle/>
          <a:p>
            <a:fld id="{7A3E0868-4E26-4CDC-8A56-D70E2D8B12FE}" type="datetime3">
              <a:rPr lang="en-US" smtClean="0"/>
              <a:pPr/>
              <a:t>1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FAFD60-7C7A-58E0-F4EA-AB680398C86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A8FEC4-8A61-5446-FE6B-68970E0AF2F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FE2E86-3CE7-6AA9-AD31-F73CEC26ADF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028D4A-FD0F-920D-3E14-E79228325C5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8724A3D-89E9-9C5C-E5E0-7082CA34A1C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72567AE-B27A-78AA-B256-934CCAF8EE2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4D4D157-6E12-F1B6-6D31-55C045A43F9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FD490E5-EE53-1F63-7C8D-CDF356FC683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546BA13-B970-0384-A143-F4EBB4C5C09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4D4C8BC2-CCC9-C950-648F-375C756B34D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Intro </a:t>
            </a:r>
            <a:r>
              <a:rPr lang="en-US"/>
              <a:t>to Linux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C816EFC-B65D-085B-E78F-DD8B65397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8449F4-1F1C-19F8-365C-83D4DB881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1A3BE8-94ED-1878-A8C7-B13001A9A343}"/>
              </a:ext>
            </a:extLst>
          </p:cNvPr>
          <p:cNvSpPr txBox="1"/>
          <p:nvPr/>
        </p:nvSpPr>
        <p:spPr>
          <a:xfrm>
            <a:off x="2305050" y="26860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/>
        <p:txBody>
          <a:bodyPr spcFirstLastPara="1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Objectives</a:t>
            </a:r>
            <a:endParaRPr lang="en-US"/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/>
        <p:txBody>
          <a:bodyPr spcFirstLastPara="1" lIns="91425" tIns="45700" rIns="91425" bIns="45700" anchorCtr="0">
            <a:norm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Describe the purpose and role of an operating system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Examine key concepts of the Linux architecture</a:t>
            </a:r>
          </a:p>
          <a:p>
            <a:pPr marL="228600" lvl="0" indent="-2286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>
                <a:solidFill>
                  <a:schemeClr val="tx1"/>
                </a:solidFill>
              </a:rPr>
              <a:t>Navigate and manipulate the Linux filesystem using basic CLI commands</a:t>
            </a:r>
          </a:p>
          <a:p>
            <a:pPr marL="228600" lvl="0" indent="-50800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Side Quest</a:t>
            </a:r>
            <a:endParaRPr/>
          </a:p>
        </p:txBody>
      </p:sp>
      <p:pic>
        <p:nvPicPr>
          <p:cNvPr id="103" name="Google Shape;103;p15" descr="Dillinger Markdown editor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>
            <a:alphaModFix/>
          </a:blip>
          <a:stretch/>
        </p:blipFill>
        <p:spPr>
          <a:xfrm>
            <a:off x="-329582" y="1262756"/>
            <a:ext cx="6990359" cy="543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Markdown files</a:t>
            </a:r>
            <a:r>
              <a:rPr lang="en-US" baseline="30000"/>
              <a:t>1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VS Code Extensions (markdown viewer, pdf reader)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an operating system?</a:t>
            </a:r>
            <a:endParaRPr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4787A8-42D6-7C37-CAAE-4828EA83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“driver” of a computer</a:t>
            </a:r>
          </a:p>
          <a:p>
            <a:r>
              <a:rPr lang="en-US" dirty="0"/>
              <a:t>Controls programmatic access to hardware resources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What are some Operating Systems that are out in the wild?</a:t>
            </a:r>
            <a:endParaRPr dirty="0"/>
          </a:p>
        </p:txBody>
      </p:sp>
      <p:pic>
        <p:nvPicPr>
          <p:cNvPr id="1026" name="Picture 2" descr="Operating System (OS) - Technology-Entertainment and Live Sports Streaming">
            <a:extLst>
              <a:ext uri="{FF2B5EF4-FFF2-40B4-BE49-F238E27FC236}">
                <a16:creationId xmlns:a16="http://schemas.microsoft.com/office/drawing/2014/main" id="{5D244A06-A54D-9822-172A-82D881B2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086" y="1533958"/>
            <a:ext cx="7207827" cy="481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Linux</a:t>
            </a:r>
            <a:endParaRPr/>
          </a:p>
        </p:txBody>
      </p:sp>
      <p:pic>
        <p:nvPicPr>
          <p:cNvPr id="121" name="Google Shape;121;p18"/>
          <p:cNvPicPr preferRelativeResize="0">
            <a:picLocks noGrp="1"/>
          </p:cNvPicPr>
          <p:nvPr>
            <p:ph sz="half" idx="1"/>
          </p:nvPr>
        </p:nvPicPr>
        <p:blipFill rotWithShape="1">
          <a:blip r:embed="rId3">
            <a:alphaModFix/>
          </a:blip>
          <a:stretch/>
        </p:blipFill>
        <p:spPr>
          <a:xfrm>
            <a:off x="1659731" y="2024062"/>
            <a:ext cx="314325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Meet Tux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Linux</a:t>
            </a:r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What is it?</a:t>
            </a: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Family of operating systems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Based off Unix (an AT&amp;T OS)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Designed to be compatible with Unix applications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Main kernel written by Linus Torvalds </a:t>
            </a:r>
            <a:r>
              <a:rPr lang="en-US" sz="1100" dirty="0"/>
              <a:t>(famously </a:t>
            </a:r>
            <a:r>
              <a:rPr lang="en-US" sz="1100" strike="sngStrike" dirty="0"/>
              <a:t>ill-tempered</a:t>
            </a:r>
            <a:r>
              <a:rPr lang="en-US" sz="1100" dirty="0"/>
              <a:t> opinionated)</a:t>
            </a:r>
            <a:r>
              <a:rPr lang="en-US" sz="1100" baseline="30000" dirty="0"/>
              <a:t>3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Open source and available freely</a:t>
            </a:r>
            <a:r>
              <a:rPr lang="en-US" baseline="30000" dirty="0"/>
              <a:t>1</a:t>
            </a:r>
            <a:endParaRPr dirty="0"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Common Distributions</a:t>
            </a:r>
            <a:r>
              <a:rPr lang="en-US" baseline="30000"/>
              <a:t>2</a:t>
            </a:r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Debian / Ubuntu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Fedora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openSUSE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Arch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Gentoo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Alpine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Windows Subsystem for Linux</a:t>
            </a:r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Actually, wait…</a:t>
            </a:r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Virtual machines…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“fake” OS inside another OS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“host” OS presents virtual (fake) devices to the “guest” OS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Remember, everything is just interpreted 1s and 0s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Mice, keyboards, etc, are all just 1s and 0s.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We’ll talk more about it in the cloud lessons</a:t>
            </a:r>
            <a:endParaRPr/>
          </a:p>
        </p:txBody>
      </p:sp>
      <p:pic>
        <p:nvPicPr>
          <p:cNvPr id="145" name="Google Shape;145;p21" descr="A person with braids smiling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0429" y="3296577"/>
            <a:ext cx="45148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Windows Subsystem for Linux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 Linux VM running as a guest on a Windows host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That Linux VM hosts “containers” for each distribution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Windows filesystem is mounted into the Linux filesystem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Has some idiosyncrasies but works well for our purposes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Filesystems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filesystem is a system that handles files… (and folders)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OS’s provide a variety of utilities to manage the filesystem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60" name="Google Shape;160;p2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tretch/>
        </p:blipFill>
        <p:spPr>
          <a:xfrm>
            <a:off x="1705841" y="3212470"/>
            <a:ext cx="8627918" cy="328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 Linux File System</a:t>
            </a: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idx="1"/>
          </p:nvPr>
        </p:nvSpPr>
        <p:spPr>
          <a:xfrm>
            <a:off x="766233" y="1441922"/>
            <a:ext cx="4961686" cy="4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Everything starts at a single root </a:t>
            </a:r>
            <a:r>
              <a:rPr lang="en-US" sz="2400" dirty="0">
                <a:solidFill>
                  <a:schemeClr val="accent3"/>
                </a:solidFill>
              </a:rPr>
              <a:t>/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No drive letter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Common layout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lang="en-US" sz="1800" dirty="0"/>
              <a:t>/bin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lang="en-US" sz="1800" dirty="0"/>
              <a:t>/</a:t>
            </a:r>
            <a:r>
              <a:rPr lang="en-US" sz="1800" dirty="0" err="1"/>
              <a:t>etc</a:t>
            </a:r>
            <a:endParaRPr sz="1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lang="en-US" sz="1800" dirty="0"/>
              <a:t>/home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lang="en-US" sz="1800" dirty="0"/>
              <a:t>/var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•"/>
            </a:pPr>
            <a:r>
              <a:rPr lang="en-US" sz="1800" dirty="0"/>
              <a:t>…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Forward slashes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File extensions NOT required!!!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File names are case sensitive and should not contain spaces…</a:t>
            </a:r>
            <a:endParaRPr dirty="0"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919" y="1441922"/>
            <a:ext cx="6344535" cy="5115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Paths – Absolute</a:t>
            </a:r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idx="1"/>
          </p:nvPr>
        </p:nvSpPr>
        <p:spPr>
          <a:xfrm>
            <a:off x="755651" y="1752599"/>
            <a:ext cx="10668000" cy="472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Absolute Path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/>
              <a:t>Specifies every directory that needs to be traversed (double clicked) to access a particular location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/>
              <a:t>Assumes you are starting from the very top / beginning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/>
              <a:t>C:\users\me\courses\cy355\lesson_slides\lesson_04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/>
              <a:t>/home/users/me/courses/cy355/</a:t>
            </a:r>
            <a:r>
              <a:rPr lang="en-US" sz="3200" dirty="0" err="1"/>
              <a:t>lesson_slides</a:t>
            </a:r>
            <a:r>
              <a:rPr lang="en-US" sz="3200" dirty="0"/>
              <a:t>/04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Paths – Relative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idx="1"/>
          </p:nvPr>
        </p:nvSpPr>
        <p:spPr>
          <a:xfrm>
            <a:off x="755651" y="1174173"/>
            <a:ext cx="10668000" cy="537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2924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Some special chars:</a:t>
            </a:r>
          </a:p>
          <a:p>
            <a:pPr marL="685800" lvl="1" indent="-228600">
              <a:lnSpc>
                <a:spcPct val="90000"/>
              </a:lnSpc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. – current directory</a:t>
            </a:r>
          </a:p>
          <a:p>
            <a:pPr marL="685800" lvl="1" indent="-228600">
              <a:lnSpc>
                <a:spcPct val="90000"/>
              </a:lnSpc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.. – parent directory</a:t>
            </a:r>
          </a:p>
          <a:p>
            <a:pPr marL="502924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 relative path assumes you are already somewhere in the file system</a:t>
            </a:r>
            <a:endParaRPr dirty="0"/>
          </a:p>
          <a:p>
            <a:pPr marL="502924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Provides instructions from your current location to your destination</a:t>
            </a:r>
            <a:endParaRPr dirty="0"/>
          </a:p>
          <a:p>
            <a:pPr marL="502924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You are currently in </a:t>
            </a:r>
            <a:r>
              <a:rPr lang="en-US" sz="2400" dirty="0">
                <a:highlight>
                  <a:srgbClr val="FFFF00"/>
                </a:highlight>
              </a:rPr>
              <a:t>C:\users\soldier.joe\courses\AI400 </a:t>
            </a:r>
            <a:r>
              <a:rPr lang="en-US" sz="2400" dirty="0"/>
              <a:t>and want to get to today’s lesson slides located at</a:t>
            </a:r>
            <a:br>
              <a:rPr lang="en-US" sz="2400" dirty="0"/>
            </a:br>
            <a:endParaRPr lang="en-US" sz="2400" dirty="0"/>
          </a:p>
          <a:p>
            <a:pPr marL="288611" indent="0"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2400"/>
              <a:buNone/>
            </a:pPr>
            <a:r>
              <a:rPr lang="en-US" sz="2400" dirty="0"/>
              <a:t>C:\users\soldier.joe\courses\cy355\lesson_slides\lesson_04</a:t>
            </a:r>
          </a:p>
          <a:p>
            <a:pPr marL="631511" indent="-342900">
              <a:lnSpc>
                <a:spcPct val="9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631511" indent="-342900">
              <a:lnSpc>
                <a:spcPct val="9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/>
              <a:t>To get there…</a:t>
            </a:r>
          </a:p>
          <a:p>
            <a:pPr marL="631511" indent="-342900">
              <a:lnSpc>
                <a:spcPct val="9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8611" indent="0" algn="ctr">
              <a:lnSpc>
                <a:spcPct val="90000"/>
              </a:lnSpc>
              <a:buClr>
                <a:schemeClr val="dk1"/>
              </a:buClr>
              <a:buSzPts val="2400"/>
              <a:buNone/>
            </a:pPr>
            <a:r>
              <a:rPr lang="en-US" sz="2400" dirty="0"/>
              <a:t>..\cy355\</a:t>
            </a:r>
            <a:r>
              <a:rPr lang="en-US" sz="2400" dirty="0" err="1"/>
              <a:t>lesson_slides</a:t>
            </a:r>
            <a:r>
              <a:rPr lang="en-US" sz="2400" dirty="0"/>
              <a:t>\lesson-4</a:t>
            </a:r>
            <a:endParaRPr lang="en-US" sz="3600" dirty="0"/>
          </a:p>
          <a:p>
            <a:pPr marL="471487" lvl="1" indent="0" algn="ctr">
              <a:lnSpc>
                <a:spcPct val="90000"/>
              </a:lnSpc>
              <a:buClr>
                <a:schemeClr val="dk1"/>
              </a:buClr>
              <a:buSzPts val="240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Filesystem Operations</a:t>
            </a:r>
            <a:endParaRPr/>
          </a:p>
        </p:txBody>
      </p:sp>
      <p:graphicFrame>
        <p:nvGraphicFramePr>
          <p:cNvPr id="186" name="Google Shape;186;p27"/>
          <p:cNvGraphicFramePr/>
          <p:nvPr/>
        </p:nvGraphicFramePr>
        <p:xfrm>
          <a:off x="831850" y="1490345"/>
          <a:ext cx="10515600" cy="3657700"/>
        </p:xfrm>
        <a:graphic>
          <a:graphicData uri="http://schemas.openxmlformats.org/drawingml/2006/table">
            <a:tbl>
              <a:tblPr>
                <a:noFill/>
                <a:tableStyleId>{E2229193-9201-416B-B51A-756F7200C228}</a:tableStyleId>
              </a:tblPr>
              <a:tblGrid>
                <a:gridCol w="23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pwd</a:t>
                      </a:r>
                      <a:endParaRPr sz="18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Print working directory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Change directory (equivalent of double-clicking a folder)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List contents of a directory (-l for detailed view, -a for all files)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Copy a file or directory (like "copy and paste")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mv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Move or rename a file/directory (like "cut and paste")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touch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Update timestamp or create a new file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mkdir</a:t>
                      </a:r>
                      <a:endParaRPr sz="18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Create a new directory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Remove a file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Print the contents of a file to the terminal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#1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07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400" dirty="0"/>
              <a:t>Terminal Overview</a:t>
            </a:r>
          </a:p>
          <a:p>
            <a:pPr marL="5207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400" dirty="0"/>
              <a:t>Filesystem Commands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Other common utilities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dirty="0"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endParaRPr sz="20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dirty="0" err="1">
                <a:latin typeface="Courier New"/>
                <a:ea typeface="Courier New"/>
                <a:cs typeface="Courier New"/>
                <a:sym typeface="Courier New"/>
              </a:rPr>
              <a:t>wc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dirty="0">
                <a:latin typeface="Courier New"/>
                <a:ea typeface="Courier New"/>
                <a:cs typeface="Courier New"/>
                <a:sym typeface="Courier New"/>
              </a:rPr>
              <a:t>ssh</a:t>
            </a:r>
          </a:p>
          <a:p>
            <a:pPr marL="228600" indent="-228600">
              <a:buSzPct val="100000"/>
            </a:pPr>
            <a:r>
              <a:rPr lang="en-US" sz="2000" dirty="0" err="1"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endParaRPr lang="en-US" sz="2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dirty="0">
                <a:latin typeface="Courier New"/>
                <a:ea typeface="Courier New"/>
                <a:cs typeface="Courier New"/>
                <a:sym typeface="Courier New"/>
              </a:rPr>
              <a:t>|, &gt;, &gt;&gt;, &lt;, &amp;&amp;, ||</a:t>
            </a:r>
            <a:endParaRPr sz="20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/>
          </a:p>
        </p:txBody>
      </p:sp>
      <p:pic>
        <p:nvPicPr>
          <p:cNvPr id="199" name="Google Shape;199;p29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tretch/>
        </p:blipFill>
        <p:spPr>
          <a:xfrm>
            <a:off x="5241073" y="1690687"/>
            <a:ext cx="6612673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Finding help…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Often, `command --help`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times, `man command`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“Manual pages” -&gt; “manpages” -&gt; “man”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Of course: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Documentation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Stackoverflow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Reddit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LLMs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Google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Regular Expressions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you want to learn more about grep patterns…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Regular expression syntax cheat sheet - JavaScript | MDN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regex101: build, test, and debug regex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Top 15 Commonly Used Regex - Digital Fortress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#2</a:t>
            </a:r>
            <a:endParaRPr/>
          </a:p>
        </p:txBody>
      </p:sp>
      <p:sp>
        <p:nvSpPr>
          <p:cNvPr id="218" name="Google Shape;218;p3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the discussed utilities on a Linux system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3482762" y="1248936"/>
            <a:ext cx="5226476" cy="674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dirty="0"/>
              <a:t>How are you feeling?</a:t>
            </a:r>
            <a:endParaRPr dirty="0"/>
          </a:p>
        </p:txBody>
      </p:sp>
      <p:pic>
        <p:nvPicPr>
          <p:cNvPr id="225" name="Google Shape;225;p33" descr="A person with long hair wearing glasses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2877614" y="2236631"/>
            <a:ext cx="6436771" cy="3918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Useful Commands</a:t>
            </a:r>
            <a:endParaRPr/>
          </a:p>
        </p:txBody>
      </p:sp>
      <p:sp>
        <p:nvSpPr>
          <p:cNvPr id="231" name="Google Shape;231;p3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history – </a:t>
            </a:r>
            <a:r>
              <a:rPr lang="en-US" dirty="0" err="1"/>
              <a:t>linux</a:t>
            </a:r>
            <a:r>
              <a:rPr lang="en-US" dirty="0"/>
              <a:t> command history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Ctrl+R</a:t>
            </a:r>
            <a:r>
              <a:rPr lang="en-US" dirty="0"/>
              <a:t> (reverse search)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/>
              <a:t>Ctrl+L</a:t>
            </a:r>
            <a:r>
              <a:rPr lang="en-US" dirty="0"/>
              <a:t> (clear)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clear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AD00-C39B-B345-7B23-12335543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Says…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5C88-1D7B-338B-5847-45B94697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13A5F0-485C-96C6-C505-550A4700B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23279B-9F32-FB7B-5910-CF8000340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would I ever use the terminal?</a:t>
            </a:r>
          </a:p>
          <a:p>
            <a:r>
              <a:rPr lang="en-US" dirty="0"/>
              <a:t>This is so slow!</a:t>
            </a:r>
          </a:p>
          <a:p>
            <a:endParaRPr lang="en-US" dirty="0"/>
          </a:p>
          <a:p>
            <a:r>
              <a:rPr lang="en-US" dirty="0"/>
              <a:t>Have you ever had to manipulate 10 servers?  100 servers?  1000 servers?  In a GUI?</a:t>
            </a:r>
          </a:p>
        </p:txBody>
      </p:sp>
    </p:spTree>
    <p:extLst>
      <p:ext uri="{BB962C8B-B14F-4D97-AF65-F5344CB8AC3E}">
        <p14:creationId xmlns:p14="http://schemas.microsoft.com/office/powerpoint/2010/main" val="268083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924</Words>
  <Application>Microsoft Office PowerPoint</Application>
  <PresentationFormat>Widescreen</PresentationFormat>
  <Paragraphs>164</Paragraphs>
  <Slides>24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Courier New</vt:lpstr>
      <vt:lpstr>Play</vt:lpstr>
      <vt:lpstr>Arial</vt:lpstr>
      <vt:lpstr>Arial Bold</vt:lpstr>
      <vt:lpstr>1_US Army 2023 AFC DEVCOM Logo</vt:lpstr>
      <vt:lpstr>Intro to Linux</vt:lpstr>
      <vt:lpstr>Objectives</vt:lpstr>
      <vt:lpstr>Side Quest</vt:lpstr>
      <vt:lpstr>What is an operating system?</vt:lpstr>
      <vt:lpstr>What are some Operating Systems that are out in the wild?</vt:lpstr>
      <vt:lpstr>Linux</vt:lpstr>
      <vt:lpstr>Linux</vt:lpstr>
      <vt:lpstr>Windows Subsystem for Linux</vt:lpstr>
      <vt:lpstr>Actually, wait…</vt:lpstr>
      <vt:lpstr>Windows Subsystem for Linux</vt:lpstr>
      <vt:lpstr>Filesystems</vt:lpstr>
      <vt:lpstr>The Linux File System</vt:lpstr>
      <vt:lpstr>Paths – Absolute</vt:lpstr>
      <vt:lpstr>Paths – Relative</vt:lpstr>
      <vt:lpstr>Filesystem Operations</vt:lpstr>
      <vt:lpstr>Hands-On #1</vt:lpstr>
      <vt:lpstr>Other common utilities</vt:lpstr>
      <vt:lpstr>Finding help…</vt:lpstr>
      <vt:lpstr>Regular Expressions</vt:lpstr>
      <vt:lpstr>Hands-On #2</vt:lpstr>
      <vt:lpstr>How are you feeling?</vt:lpstr>
      <vt:lpstr>Useful Commands</vt:lpstr>
      <vt:lpstr>Who Says…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38</cp:revision>
  <dcterms:modified xsi:type="dcterms:W3CDTF">2026-06-01T15:57:52Z</dcterms:modified>
</cp:coreProperties>
</file>